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54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180000"/>
            <a:ext cx="468000" cy="468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Segoe UI"/>
              </a:defRPr>
              <a:lnSpc>
                <a:spcPct val="114999"/>
              </a:lnSpc>
            </a:pPr>
            <a:r>
              <a:t>VisionGuard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413999"/>
            <a:ext cx="36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AI Construction Safety Inspection Platform · 建筑施工AI安全巡检平台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234000"/>
            <a:ext cx="1152000" cy="251999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0" y="2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AI-POWERED · YOLO + VLM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37999"/>
            <a:ext cx="6840000" cy="10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827999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4ED8"/>
                </a:solidFill>
                <a:latin typeface="Segoe UI"/>
              </a:defRPr>
              <a:lnSpc>
                <a:spcPct val="114999"/>
              </a:lnSpc>
            </a:pPr>
            <a:r>
              <a:t>Your Site's AI Safety Net That Never Sleeps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367999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VisionGuard combines real-time YOLO object detection with VLM secondary verification to monitor construction sites 24/7. AI flags every potential hazard — human reviewers confirm or dismiss — and the platform tracks every issue through to rectification closure.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1727999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2563EB"/>
                </a:solidFill>
                <a:latin typeface="Segoe UI"/>
              </a:defRPr>
              <a:lnSpc>
                <a:spcPct val="114999"/>
              </a:lnSpc>
            </a:pPr>
            <a:r>
              <a:t>全天候AI视频智能巡检 · YOLO实时检测+VLM大模型二次复核 · 人机协同精准判识 · 全链路闭环管理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1943999"/>
            <a:ext cx="900000" cy="468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1961999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Segoe UI"/>
              </a:defRPr>
              <a:lnSpc>
                <a:spcPct val="114999"/>
              </a:lnSpc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2213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Hazard Types</a:t>
            </a:r>
            <a:br/>
            <a:r>
              <a:t>隐患类型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68000" y="1943999"/>
            <a:ext cx="900000" cy="468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68000" y="1961999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Segoe UI"/>
              </a:defRPr>
              <a:lnSpc>
                <a:spcPct val="114999"/>
              </a:lnSpc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8000" y="2213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User Roles</a:t>
            </a:r>
            <a:br/>
            <a:r>
              <a:t>角色权限(RBAC)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6000" y="1943999"/>
            <a:ext cx="900000" cy="468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6000" y="1961999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Segoe UI"/>
              </a:defRPr>
              <a:lnSpc>
                <a:spcPct val="114999"/>
              </a:lnSpc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6000" y="2213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Closed-Loop</a:t>
            </a:r>
            <a:br/>
            <a:r>
              <a:t>全流程闭环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999" y="1943999"/>
            <a:ext cx="900000" cy="468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999" y="1961999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563EB"/>
                </a:solidFill>
                <a:latin typeface="Segoe UI"/>
              </a:defRPr>
              <a:lnSpc>
                <a:spcPct val="114999"/>
              </a:lnSpc>
            </a:pPr>
            <a:r>
              <a:t>24/7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999" y="2213999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Real-Time</a:t>
            </a:r>
            <a:br/>
            <a:r>
              <a:t>全天候监控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0000" y="827999"/>
            <a:ext cx="2700000" cy="75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AI Review Workbench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人工复核工作台截图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0000" y="1655998"/>
            <a:ext cx="2700000" cy="75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Executive Dashboard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工作台总览截图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000" y="2592000"/>
            <a:ext cx="162000" cy="162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999" y="2584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12 AI Detection Capabilities / AI检测能力覆盖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0000" y="2790000"/>
            <a:ext cx="2880000" cy="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0000" y="2844000"/>
            <a:ext cx="125999" cy="125999"/>
          </a:xfrm>
          <a:prstGeom prst="round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0000" y="2808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No Hard 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2923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安全帽未佩戴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0000" y="2826000"/>
            <a:ext cx="251999" cy="1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0000" y="2826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1E40AF"/>
                </a:solidFill>
                <a:latin typeface="Segoe UI"/>
              </a:defRPr>
              <a:lnSpc>
                <a:spcPct val="114999"/>
              </a:lnSpc>
            </a:pPr>
            <a:r>
              <a:t>行为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94000" y="2844000"/>
            <a:ext cx="125999" cy="125999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74000" y="2808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No Safety Vest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74000" y="2923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反光衣未穿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14000" y="2826000"/>
            <a:ext cx="251999" cy="1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14000" y="2826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1E40AF"/>
                </a:solidFill>
                <a:latin typeface="Segoe UI"/>
              </a:defRPr>
              <a:lnSpc>
                <a:spcPct val="114999"/>
              </a:lnSpc>
            </a:pPr>
            <a:r>
              <a:t>行为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28000" y="2844000"/>
            <a:ext cx="125999" cy="125999"/>
          </a:xfrm>
          <a:prstGeom prst="roundRect">
            <a:avLst/>
          </a:prstGeom>
          <a:solidFill>
            <a:srgbClr val="FACC15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08000" y="2808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Edge Protection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000" y="2923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临边防护缺失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48000" y="2826000"/>
            <a:ext cx="251999" cy="1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0" y="2826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92400E"/>
                </a:solidFill>
                <a:latin typeface="Segoe UI"/>
              </a:defRPr>
              <a:lnSpc>
                <a:spcPct val="114999"/>
              </a:lnSpc>
            </a:pPr>
            <a:r>
              <a:t>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61999" y="2844000"/>
            <a:ext cx="125999" cy="125999"/>
          </a:xfrm>
          <a:prstGeom prst="roundRect">
            <a:avLst/>
          </a:prstGeom>
          <a:solidFill>
            <a:srgbClr val="4ADE80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41999" y="2808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Smoking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41999" y="2923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吸烟检测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1999" y="2826000"/>
            <a:ext cx="251999" cy="1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1999" y="2826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1E40AF"/>
                </a:solidFill>
                <a:latin typeface="Segoe UI"/>
              </a:defRPr>
              <a:lnSpc>
                <a:spcPct val="114999"/>
              </a:lnSpc>
            </a:pPr>
            <a:r>
              <a:t>行为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96000" y="2844000"/>
            <a:ext cx="125999" cy="125999"/>
          </a:xfrm>
          <a:prstGeom prst="roundRect">
            <a:avLst/>
          </a:prstGeom>
          <a:solidFill>
            <a:srgbClr val="60A5F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6000" y="2808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Intrusion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6000" y="2923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人员越界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16000" y="2826000"/>
            <a:ext cx="251999" cy="1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16000" y="2826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1E40AF"/>
                </a:solidFill>
                <a:latin typeface="Segoe UI"/>
              </a:defRPr>
              <a:lnSpc>
                <a:spcPct val="114999"/>
              </a:lnSpc>
            </a:pPr>
            <a:r>
              <a:t>行为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30000" y="2844000"/>
            <a:ext cx="125999" cy="125999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0000" y="2808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Pit Overload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0000" y="2923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坑边堆载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750000" y="2826000"/>
            <a:ext cx="251999" cy="1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50000" y="2826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92400E"/>
                </a:solidFill>
                <a:latin typeface="Segoe UI"/>
              </a:defRPr>
              <a:lnSpc>
                <a:spcPct val="114999"/>
              </a:lnSpc>
            </a:pPr>
            <a:r>
              <a:t>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0000" y="3132000"/>
            <a:ext cx="125999" cy="125999"/>
          </a:xfrm>
          <a:prstGeom prst="roundRect">
            <a:avLst/>
          </a:prstGeom>
          <a:solidFill>
            <a:srgbClr val="FB92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0000" y="3096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Open Flame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0000" y="3211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明火检测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80000" y="3114000"/>
            <a:ext cx="251999" cy="1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0000" y="3114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1E40AF"/>
                </a:solidFill>
                <a:latin typeface="Segoe UI"/>
              </a:defRPr>
              <a:lnSpc>
                <a:spcPct val="114999"/>
              </a:lnSpc>
            </a:pPr>
            <a:r>
              <a:t>行为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494000" y="3132000"/>
            <a:ext cx="125999" cy="125999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74000" y="3096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Bulk Lifting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74000" y="3211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散料吊装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214000" y="3114000"/>
            <a:ext cx="251999" cy="1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14000" y="3114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92400E"/>
                </a:solidFill>
                <a:latin typeface="Segoe UI"/>
              </a:defRPr>
              <a:lnSpc>
                <a:spcPct val="114999"/>
              </a:lnSpc>
            </a:pPr>
            <a:r>
              <a:t>物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628000" y="3132000"/>
            <a:ext cx="125999" cy="125999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808000" y="3096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Crowd Gather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08000" y="3211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人员聚集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348000" y="3114000"/>
            <a:ext cx="251999" cy="1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48000" y="3114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1E40AF"/>
                </a:solidFill>
                <a:latin typeface="Segoe UI"/>
              </a:defRPr>
              <a:lnSpc>
                <a:spcPct val="114999"/>
              </a:lnSpc>
            </a:pPr>
            <a:r>
              <a:t>行为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761999" y="3132000"/>
            <a:ext cx="125999" cy="125999"/>
          </a:xfrm>
          <a:prstGeom prst="roundRect">
            <a:avLst/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41999" y="3096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Vehicle Violation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41999" y="3211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车辆违规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481999" y="3114000"/>
            <a:ext cx="251999" cy="162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81999" y="3114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1E40AF"/>
                </a:solidFill>
                <a:latin typeface="Segoe UI"/>
              </a:defRPr>
              <a:lnSpc>
                <a:spcPct val="114999"/>
              </a:lnSpc>
            </a:pPr>
            <a:r>
              <a:t>行为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896000" y="3132000"/>
            <a:ext cx="125999" cy="125999"/>
          </a:xfrm>
          <a:prstGeom prst="roundRect">
            <a:avLst/>
          </a:prstGeom>
          <a:solidFill>
            <a:srgbClr val="9CA3A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76000" y="3096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Suspended Platform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76000" y="3211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吊篮作业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616000" y="3114000"/>
            <a:ext cx="251999" cy="1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16000" y="3114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92400E"/>
                </a:solidFill>
                <a:latin typeface="Segoe UI"/>
              </a:defRPr>
              <a:lnSpc>
                <a:spcPct val="114999"/>
              </a:lnSpc>
            </a:pPr>
            <a:r>
              <a:t>物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030000" y="3132000"/>
            <a:ext cx="125999" cy="125999"/>
          </a:xfrm>
          <a:prstGeom prst="round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0000" y="3096000"/>
            <a:ext cx="79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Enclosure Breach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0000" y="3211200"/>
            <a:ext cx="43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工地围挡封闭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750000" y="3114000"/>
            <a:ext cx="251999" cy="162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50000" y="3114000"/>
            <a:ext cx="25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50" b="0">
                <a:solidFill>
                  <a:srgbClr val="92400E"/>
                </a:solidFill>
                <a:latin typeface="Segoe UI"/>
              </a:defRPr>
              <a:lnSpc>
                <a:spcPct val="114999"/>
              </a:lnSpc>
            </a:pPr>
            <a:r>
              <a:t>物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0000" y="3348000"/>
            <a:ext cx="162000" cy="162000"/>
          </a:xfrm>
          <a:prstGeom prst="roundRect">
            <a:avLst/>
          </a:prstGeom>
          <a:solidFill>
            <a:srgbClr val="F57A00"/>
          </a:solidFill>
          <a:ln w="12700">
            <a:solidFill>
              <a:srgbClr val="F5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1999" y="3340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6-Step Closed-Loop Workflow / 六步全流程闭环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0000" y="3546000"/>
            <a:ext cx="2880000" cy="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540000" y="3564000"/>
            <a:ext cx="396000" cy="396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0000" y="3582000"/>
            <a:ext cx="3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0000" y="3978000"/>
            <a:ext cx="77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AI Detection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0000" y="4085999"/>
            <a:ext cx="774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AI智能检测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26000" y="3654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▸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674000" y="3564000"/>
            <a:ext cx="396000" cy="396000"/>
          </a:xfrm>
          <a:prstGeom prst="roundRect">
            <a:avLst/>
          </a:prstGeom>
          <a:solidFill>
            <a:srgbClr val="F57A00"/>
          </a:solidFill>
          <a:ln w="12700">
            <a:solidFill>
              <a:srgbClr val="F5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674000" y="3582000"/>
            <a:ext cx="3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94000" y="3978000"/>
            <a:ext cx="77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Human Review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94000" y="4085999"/>
            <a:ext cx="774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人工复核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60000" y="3654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▸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808000" y="3564000"/>
            <a:ext cx="396000" cy="396000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808000" y="3582000"/>
            <a:ext cx="3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📋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28000" y="3978000"/>
            <a:ext cx="77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WO Dispatch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28000" y="4085999"/>
            <a:ext cx="774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工单派发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94000" y="3654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▸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941999" y="3564000"/>
            <a:ext cx="396000" cy="3960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41999" y="3582000"/>
            <a:ext cx="3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🔧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61999" y="3978000"/>
            <a:ext cx="77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Rectification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761999" y="4085999"/>
            <a:ext cx="774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现场整改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427999" y="3654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▸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076000" y="3564000"/>
            <a:ext cx="396000" cy="396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76000" y="3582000"/>
            <a:ext cx="3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96000" y="3978000"/>
            <a:ext cx="77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Verification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96000" y="4085999"/>
            <a:ext cx="774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整改验收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62000" y="3654000"/>
            <a:ext cx="3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Segoe UI"/>
              </a:defRPr>
              <a:lnSpc>
                <a:spcPct val="114999"/>
              </a:lnSpc>
            </a:pPr>
            <a:r>
              <a:t>▸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10000" y="3564000"/>
            <a:ext cx="396000" cy="396000"/>
          </a:xfrm>
          <a:prstGeom prst="roundRect">
            <a:avLst/>
          </a:prstGeom>
          <a:solidFill>
            <a:srgbClr val="3730A3"/>
          </a:solidFill>
          <a:ln w="1270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210000" y="3582000"/>
            <a:ext cx="3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🔒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030000" y="3978000"/>
            <a:ext cx="774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Closure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030000" y="4085999"/>
            <a:ext cx="774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闭环归档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0000" y="4248000"/>
            <a:ext cx="2232000" cy="1007999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Camera Live View + AI Annotations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摄像头实时画面 + AI标注效果示意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00000" y="4248000"/>
            <a:ext cx="2232000" cy="1007999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Hazard Detection Examples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隐患检测示例：安全帽未佩戴、临边防护缺失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040000" y="4248000"/>
            <a:ext cx="2160000" cy="1007999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Work Order Lifecycle Tracking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工单全生命周期状态流转示意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0000" y="10224000"/>
            <a:ext cx="6840000" cy="10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0000" y="10296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VisionGuard · AI Construction Safety · © 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60000" y="10296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🌐 Live Demo: bestaloner.github.io/AIsp  |  📧 contact@visionguard.ai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54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0000" y="180000"/>
            <a:ext cx="468000" cy="468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80000"/>
            <a:ext cx="46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6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Segoe UI"/>
              </a:defRPr>
              <a:lnSpc>
                <a:spcPct val="114999"/>
              </a:lnSpc>
            </a:pPr>
            <a:r>
              <a:t>VisionGuard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413999"/>
            <a:ext cx="36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AI Construction Safety Inspection Platform · 建筑施工AI安全巡检平台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234000"/>
            <a:ext cx="1152000" cy="251999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0" y="234000"/>
            <a:ext cx="115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>
                <a:solidFill>
                  <a:srgbClr val="FFFFFF"/>
                </a:solidFill>
                <a:latin typeface="Segoe UI"/>
              </a:defRPr>
              <a:lnSpc>
                <a:spcPct val="114999"/>
              </a:lnSpc>
            </a:pPr>
            <a:r>
              <a:t>HUMAN-AI COLLABORATION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737999"/>
            <a:ext cx="6840000" cy="10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000" y="827999"/>
            <a:ext cx="162000" cy="1620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999" y="820799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Core Platform Modules / 核心功能模块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025999"/>
            <a:ext cx="3600000" cy="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1043999"/>
            <a:ext cx="2160000" cy="9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Dashboard + AI Review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工作台 + 复核台截图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4000" y="1043999"/>
            <a:ext cx="45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Executive Dashboard &amp; AI Review Workbench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4000" y="1241999"/>
            <a:ext cx="45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工作台总览 · 人工复核工作台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4000" y="1403999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Real-time KPI cards, hazard trend charts, and project status overview. The AI Review Workbench presents original camera images side-by-side with AI-annotated detection results — reviewers confirm or dismiss each finding in seconds. This human-in-the-loop step combines AI speed with expert judgment to eliminate false positives.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141999"/>
            <a:ext cx="2160000" cy="9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Work Order Management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工单派发 + 工单台账截图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4000" y="2141999"/>
            <a:ext cx="45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Work Order Dispatch &amp; Lifecycle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64000" y="2339999"/>
            <a:ext cx="45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工单派发 · 工单台账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4000" y="2501999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One-click batch dispatch confirmed hazards as work orders to assigned on-site executors. Full lifecycle: Pending → Dispatched → Rectifying → Submitted → Verified → Closed. Every status change is timestamped and logged. Executors see only assigned tasks; admins have full visibility across all projects.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000" y="3239999"/>
            <a:ext cx="2160000" cy="9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Camera &amp; Project Config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摄像头配置 + 项目管理截图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4000" y="3239999"/>
            <a:ext cx="453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Multi-Site Management &amp; Per-Camera Scene Config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000" y="3437999"/>
            <a:ext cx="453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项目管理 · 摄像头场景矩阵配置 · 工单设置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4000" y="3599999"/>
            <a:ext cx="4536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One platform manages unlimited construction sites. Each camera independently configured with a scene matrix — enable only relevant hazard types per camera's field of view. WO Settings control which hazard categories auto-generate work orders. Project-level executor assignment ensures accountability.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4284000"/>
            <a:ext cx="162000" cy="162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999" y="4276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Role-Based Access / 角色权限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4482000"/>
            <a:ext cx="2880000" cy="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0000" y="4500000"/>
            <a:ext cx="774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58000" y="4572000"/>
            <a:ext cx="360000" cy="36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000" y="4590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D4ED8"/>
                </a:solidFill>
                <a:latin typeface="Segoe UI"/>
              </a:defRPr>
              <a:lnSpc>
                <a:spcPct val="114999"/>
              </a:lnSpc>
            </a:pPr>
            <a:r>
              <a:t>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000" y="5003999"/>
            <a:ext cx="70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Administrator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6000" y="5112000"/>
            <a:ext cx="70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系统管理员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000" y="5237999"/>
            <a:ext cx="70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Full platform access</a:t>
            </a:r>
            <a:br/>
            <a:r>
              <a:t>User/Project/Camera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42000" y="4500000"/>
            <a:ext cx="774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40000" y="4572000"/>
            <a:ext cx="360000" cy="360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40000" y="4590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57A00"/>
                </a:solidFill>
                <a:latin typeface="Segoe UI"/>
              </a:defRPr>
              <a:lnSpc>
                <a:spcPct val="114999"/>
              </a:lnSpc>
            </a:pPr>
            <a: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78000" y="5003999"/>
            <a:ext cx="70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Reviewer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78000" y="5112000"/>
            <a:ext cx="70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复核员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8000" y="5237999"/>
            <a:ext cx="70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AI review workbench</a:t>
            </a:r>
            <a:br/>
            <a:r>
              <a:t>Confirm/dismiss hazards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24000" y="4500000"/>
            <a:ext cx="774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322000" y="4572000"/>
            <a:ext cx="360000" cy="360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22000" y="4590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0B981"/>
                </a:solidFill>
                <a:latin typeface="Segoe UI"/>
              </a:defRPr>
              <a:lnSpc>
                <a:spcPct val="114999"/>
              </a:lnSpc>
            </a:pPr>
            <a:r>
              <a:t>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60000" y="5003999"/>
            <a:ext cx="70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Executor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60000" y="5112000"/>
            <a:ext cx="70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执行人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60000" y="5237999"/>
            <a:ext cx="70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Receives assigned WOs</a:t>
            </a:r>
            <a:br/>
            <a:r>
              <a:t>On-site rectification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06000" y="4500000"/>
            <a:ext cx="774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204000" y="4572000"/>
            <a:ext cx="360000" cy="36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4000" y="4590000"/>
            <a:ext cx="3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42000" y="5003999"/>
            <a:ext cx="702000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Viewer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2000" y="5112000"/>
            <a:ext cx="702000" cy="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观察员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42000" y="5237999"/>
            <a:ext cx="70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Read-only access</a:t>
            </a:r>
            <a:br/>
            <a:r>
              <a:t>Dashboard &amp; reports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40000" y="4284000"/>
            <a:ext cx="162000" cy="162000"/>
          </a:xfrm>
          <a:prstGeom prst="roundRect">
            <a:avLst/>
          </a:prstGeom>
          <a:solidFill>
            <a:srgbClr val="F57A00"/>
          </a:solidFill>
          <a:ln w="12700">
            <a:solidFill>
              <a:srgbClr val="F5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91999" y="4276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Why VisionGuard / 核心优势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40000" y="4482000"/>
            <a:ext cx="2880000" cy="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140000" y="4500000"/>
            <a:ext cx="144000" cy="144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40000" y="4492800"/>
            <a:ext cx="14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10B981"/>
                </a:solidFill>
                <a:latin typeface="Segoe UI"/>
              </a:defRPr>
              <a:lnSpc>
                <a:spcPct val="114999"/>
              </a:lnSpc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74000" y="4482000"/>
            <a:ext cx="27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Dual AI Engine / 双AI引擎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4000" y="4590000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YOLO real-time detection + VLM secondary verification — high recall, low false positives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40000" y="4751999"/>
            <a:ext cx="144000" cy="144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40000" y="4744799"/>
            <a:ext cx="14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10B981"/>
                </a:solidFill>
                <a:latin typeface="Segoe UI"/>
              </a:defRPr>
              <a:lnSpc>
                <a:spcPct val="114999"/>
              </a:lnSpc>
            </a:pPr>
            <a: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4000" y="4733999"/>
            <a:ext cx="27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Human-in-the-Loop / 人机协同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4000" y="4841999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AI flags, humans decide — combining machine speed with expert judgment for unmatched accuracy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40000" y="5003998"/>
            <a:ext cx="144000" cy="144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40000" y="4996798"/>
            <a:ext cx="14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10B981"/>
                </a:solidFill>
                <a:latin typeface="Segoe UI"/>
              </a:defRPr>
              <a:lnSpc>
                <a:spcPct val="114999"/>
              </a:lnSpc>
            </a:pPr>
            <a: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4000" y="4985998"/>
            <a:ext cx="27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Full Lifecycle Traceability / 全链路可追溯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4000" y="5093998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Every hazard has a complete audit trail from AI detection to rectification closure — compliance ready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40000" y="5255997"/>
            <a:ext cx="144000" cy="144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40000" y="5248797"/>
            <a:ext cx="14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10B981"/>
                </a:solidFill>
                <a:latin typeface="Segoe UI"/>
              </a:defRPr>
              <a:lnSpc>
                <a:spcPct val="114999"/>
              </a:lnSpc>
            </a:pPr>
            <a: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4000" y="5237997"/>
            <a:ext cx="27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Enterprise Multi-Site Scale / 企业级多项目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74000" y="5345997"/>
            <a:ext cx="27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One platform manages all sites, cameras, and teams — scales from single site to enterprise portfolio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0000" y="5436000"/>
            <a:ext cx="162000" cy="1620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1999" y="5428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Technology Stack / 技术栈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0000" y="5634000"/>
            <a:ext cx="2880000" cy="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0000" y="5670000"/>
            <a:ext cx="774000" cy="36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0000" y="5687999"/>
            <a:ext cx="77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🎯 YOLO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0000" y="5832000"/>
            <a:ext cx="77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Real-time Object Detection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242000" y="5670000"/>
            <a:ext cx="774000" cy="36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42000" y="5687999"/>
            <a:ext cx="77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🧠 VLM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42000" y="5832000"/>
            <a:ext cx="77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Vision Language Model (Qwen)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124000" y="5670000"/>
            <a:ext cx="774000" cy="36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24000" y="5687999"/>
            <a:ext cx="77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⚡ vLLM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24000" y="5832000"/>
            <a:ext cx="77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High-Throughput Inference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06000" y="5670000"/>
            <a:ext cx="774000" cy="360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06000" y="5687999"/>
            <a:ext cx="77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🔗 REST API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6000" y="5832000"/>
            <a:ext cx="774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Upstream Integration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0000" y="6102000"/>
            <a:ext cx="34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1">
                <a:solidFill>
                  <a:srgbClr val="1D4ED8"/>
                </a:solidFill>
                <a:latin typeface="Segoe UI"/>
              </a:defRPr>
              <a:lnSpc>
                <a:spcPct val="114999"/>
              </a:lnSpc>
            </a:pPr>
            <a:r>
              <a:t>📸 Cameras → 🎯 YOLO → 🧠 VLM → 👁 Human Review → 📋 Work Order → 🔧 Rectify → ✅ Verify → 📤 Upstream API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0000" y="6210000"/>
            <a:ext cx="34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指数退避重试 + 死信队列确保数据零丢失  ·  Exponential backoff retry + dead-letter queue for zero data loss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40000" y="5436000"/>
            <a:ext cx="162000" cy="1620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391999" y="54288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1E293B"/>
                </a:solidFill>
                <a:latin typeface="Segoe UI"/>
              </a:defRPr>
              <a:lnSpc>
                <a:spcPct val="114999"/>
              </a:lnSpc>
            </a:pPr>
            <a:r>
              <a:t>Application Scenario / 应用场景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40000" y="5634000"/>
            <a:ext cx="2880000" cy="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140000" y="5670000"/>
            <a:ext cx="3060000" cy="75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248000" y="5724000"/>
            <a:ext cx="1260000" cy="64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600"/>
            </a:pPr>
            <a:r>
              <a:t>🖼</a:t>
            </a:r>
          </a:p>
          <a:p>
            <a:pPr algn="ctr">
              <a:defRPr sz="700" b="1">
                <a:solidFill>
                  <a:srgbClr val="64748B"/>
                </a:solidFill>
                <a:latin typeface="Segoe UI"/>
              </a:defRPr>
            </a:pPr>
            <a:r>
              <a:t>Site Overview</a:t>
            </a:r>
          </a:p>
          <a:p>
            <a:pPr algn="ctr">
              <a:defRPr sz="600">
                <a:solidFill>
                  <a:srgbClr val="94A3B8"/>
                </a:solidFill>
                <a:latin typeface="Segoe UI"/>
              </a:defRPr>
            </a:pPr>
            <a:r>
              <a:t>工地全景示意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15999" y="5724000"/>
            <a:ext cx="1475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1D4ED8"/>
                </a:solidFill>
                <a:latin typeface="Segoe UI"/>
              </a:defRPr>
              <a:lnSpc>
                <a:spcPct val="114999"/>
              </a:lnSpc>
            </a:pPr>
            <a:r>
              <a:t>Typical Deployment / 典型部署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15999" y="5868000"/>
            <a:ext cx="147599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A mid-size construction site deploys 8–20 cameras covering entrances, edges, lifting zones, material yards, and access roads. VisionGuard monitors all feeds simultaneously — impossible for human guards to match. When a hazard is detected, the system alerts reviewers within seconds and dispatches work orders to on-site executors.</a:t>
            </a:r>
            <a:br/>
            <a:br/>
            <a:r>
              <a:t>中型工地通常部署8-20路摄像头覆盖出入口、临边、吊装区、材料堆场等关键区域。AI秒级告警、人工快速复核、工单直达现场执行人。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0000" y="10224000"/>
            <a:ext cx="6840000" cy="108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0000" y="10296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VisionGuard · AI Construction Safety · © 2026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60000" y="10296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550" b="0">
                <a:solidFill>
                  <a:srgbClr val="64748B"/>
                </a:solidFill>
                <a:latin typeface="Segoe UI"/>
              </a:defRPr>
              <a:lnSpc>
                <a:spcPct val="114999"/>
              </a:lnSpc>
            </a:pPr>
            <a:r>
              <a:t>🌐 Live Demo: bestaloner.github.io/AIsp  |  📧 contact@visionguard.ai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