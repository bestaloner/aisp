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7559675" cy="106918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300" d="100"/>
          <a:sy n="300" d="100"/>
        </p:scale>
        <p:origin x="-7828" y="-87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ounded Rectangle 47"/>
          <p:cNvSpPr/>
          <p:nvPr/>
        </p:nvSpPr>
        <p:spPr>
          <a:xfrm>
            <a:off x="6226937" y="5474081"/>
            <a:ext cx="1080000" cy="25200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78" name="Rounded Rectangle 77"/>
          <p:cNvSpPr/>
          <p:nvPr/>
        </p:nvSpPr>
        <p:spPr>
          <a:xfrm>
            <a:off x="6227762" y="5808123"/>
            <a:ext cx="1080000" cy="25200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7560000" cy="54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0000" y="180000"/>
            <a:ext cx="468000" cy="46800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0000" y="180000"/>
            <a:ext cx="46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Segoe UI"/>
              </a:defRPr>
            </a:pPr>
            <a:r>
              <a:t>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6000" y="180000"/>
            <a:ext cx="28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2563EB"/>
                </a:solidFill>
                <a:latin typeface="Segoe UI"/>
              </a:defRPr>
            </a:pPr>
            <a:r>
              <a:t>VisionGuard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6000" y="413999"/>
            <a:ext cx="360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600" b="0">
                <a:solidFill>
                  <a:srgbClr val="64748B"/>
                </a:solidFill>
                <a:latin typeface="Segoe UI"/>
              </a:defRPr>
            </a:pPr>
            <a:r>
              <a:t>AI Construction Safety Inspection Platform · 建筑施工AI安全巡检平台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0000" y="234000"/>
            <a:ext cx="1152000" cy="251999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120000" y="234000"/>
            <a:ext cx="115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550" b="1">
                <a:solidFill>
                  <a:srgbClr val="FFFFFF"/>
                </a:solidFill>
                <a:latin typeface="Segoe UI"/>
              </a:defRPr>
            </a:pPr>
            <a:r>
              <a:t>AI-POWERED · YOLO + VLM</a:t>
            </a:r>
          </a:p>
        </p:txBody>
      </p:sp>
      <p:sp>
        <p:nvSpPr>
          <p:cNvPr id="9" name="Rectangle 8"/>
          <p:cNvSpPr/>
          <p:nvPr/>
        </p:nvSpPr>
        <p:spPr>
          <a:xfrm flipV="1">
            <a:off x="360000" y="692278"/>
            <a:ext cx="6840000" cy="45719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0000" y="827999"/>
            <a:ext cx="340199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D4ED8"/>
                </a:solidFill>
                <a:latin typeface="Segoe UI"/>
              </a:defRPr>
            </a:pPr>
            <a:r>
              <a:rPr dirty="0"/>
              <a:t>Your Site's AI Safety Net That Never Sleeps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7999" y="1710805"/>
            <a:ext cx="396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4748B"/>
                </a:solidFill>
                <a:latin typeface="Segoe UI"/>
              </a:defRPr>
            </a:pPr>
            <a:r>
              <a:rPr dirty="0" err="1"/>
              <a:t>VisionGuard</a:t>
            </a:r>
            <a:r>
              <a:rPr dirty="0"/>
              <a:t> combines real-time YOLO object detection with VLM secondary verification to monitor construction sites 24/7. AI flags every potential hazard — human reviewers confirm or dismiss — and the platform tracks every issue through to rectification closure.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0000" y="2260577"/>
            <a:ext cx="39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650" b="1">
                <a:solidFill>
                  <a:srgbClr val="2563EB"/>
                </a:solidFill>
                <a:latin typeface="Segoe UI"/>
              </a:defRPr>
            </a:pPr>
            <a:r>
              <a:rPr dirty="0" err="1"/>
              <a:t>全天候AI视频智能巡检</a:t>
            </a:r>
            <a:r>
              <a:rPr dirty="0"/>
              <a:t> · </a:t>
            </a:r>
            <a:r>
              <a:rPr dirty="0" err="1"/>
              <a:t>YOLO实时检测+VLM大模型二次复核</a:t>
            </a:r>
            <a:r>
              <a:rPr dirty="0"/>
              <a:t> · </a:t>
            </a:r>
            <a:r>
              <a:rPr dirty="0" err="1"/>
              <a:t>人机协同精准判识</a:t>
            </a:r>
            <a:r>
              <a:rPr dirty="0"/>
              <a:t> · </a:t>
            </a:r>
            <a:r>
              <a:rPr dirty="0" err="1"/>
              <a:t>全链路闭环管理</a:t>
            </a:r>
            <a:endParaRPr dirty="0"/>
          </a:p>
        </p:txBody>
      </p:sp>
      <p:sp>
        <p:nvSpPr>
          <p:cNvPr id="13" name="Rounded Rectangle 12"/>
          <p:cNvSpPr/>
          <p:nvPr/>
        </p:nvSpPr>
        <p:spPr>
          <a:xfrm>
            <a:off x="4580399" y="909996"/>
            <a:ext cx="900000" cy="627751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80399" y="927997"/>
            <a:ext cx="9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563EB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0399" y="1179997"/>
            <a:ext cx="900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550" b="0">
                <a:solidFill>
                  <a:srgbClr val="64748B"/>
                </a:solidFill>
                <a:latin typeface="Segoe UI"/>
              </a:defRPr>
            </a:pPr>
            <a:r>
              <a:t>Hazard Types</a:t>
            </a:r>
            <a:br/>
            <a:r>
              <a:t>隐患类型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87931" y="909997"/>
            <a:ext cx="900000" cy="62775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087931" y="927997"/>
            <a:ext cx="9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563EB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7931" y="1179997"/>
            <a:ext cx="900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550" b="0">
                <a:solidFill>
                  <a:srgbClr val="64748B"/>
                </a:solidFill>
                <a:latin typeface="Segoe UI"/>
              </a:defRPr>
            </a:pPr>
            <a:r>
              <a:t>User Roles</a:t>
            </a:r>
            <a:br/>
            <a:r>
              <a:t>角色权限(RBAC)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80399" y="1796946"/>
            <a:ext cx="900000" cy="62775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80399" y="1814946"/>
            <a:ext cx="9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563EB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80399" y="2066946"/>
            <a:ext cx="900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550" b="0">
                <a:solidFill>
                  <a:srgbClr val="64748B"/>
                </a:solidFill>
                <a:latin typeface="Segoe UI"/>
              </a:defRPr>
            </a:pPr>
            <a:r>
              <a:t>Closed-Loop</a:t>
            </a:r>
            <a:br/>
            <a:r>
              <a:t>全流程闭环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83698" y="1796946"/>
            <a:ext cx="900000" cy="62775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083698" y="1814946"/>
            <a:ext cx="9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563EB"/>
                </a:solidFill>
                <a:latin typeface="Segoe UI"/>
              </a:defRPr>
            </a:pPr>
            <a:r>
              <a:t>24/7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3698" y="2066946"/>
            <a:ext cx="900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550" b="0">
                <a:solidFill>
                  <a:srgbClr val="64748B"/>
                </a:solidFill>
                <a:latin typeface="Segoe UI"/>
              </a:defRPr>
            </a:pPr>
            <a:r>
              <a:rPr dirty="0"/>
              <a:t>Real-Time</a:t>
            </a:r>
            <a:br>
              <a:rPr dirty="0"/>
            </a:br>
            <a:r>
              <a:rPr dirty="0" err="1"/>
              <a:t>全天候监控</a:t>
            </a:r>
            <a:endParaRPr dirty="0"/>
          </a:p>
        </p:txBody>
      </p:sp>
      <p:sp>
        <p:nvSpPr>
          <p:cNvPr id="25" name="Rectangle 24"/>
          <p:cNvSpPr/>
          <p:nvPr/>
        </p:nvSpPr>
        <p:spPr>
          <a:xfrm>
            <a:off x="3887998" y="2764577"/>
            <a:ext cx="3384002" cy="2119050"/>
          </a:xfrm>
          <a:prstGeom prst="rect">
            <a:avLst/>
          </a:prstGeom>
          <a:solidFill>
            <a:srgbClr val="F8FAFC"/>
          </a:solidFill>
          <a:ln w="12700">
            <a:solidFill>
              <a:srgbClr val="94A3B8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200"/>
              </a:spcAft>
              <a:defRPr sz="1600"/>
            </a:pPr>
            <a:r>
              <a:rPr dirty="0"/>
              <a:t>🖼</a:t>
            </a:r>
          </a:p>
          <a:p>
            <a:pPr algn="ctr">
              <a:defRPr sz="700" b="1">
                <a:solidFill>
                  <a:srgbClr val="64748B"/>
                </a:solidFill>
                <a:latin typeface="Segoe UI"/>
              </a:defRPr>
            </a:pPr>
            <a:r>
              <a:rPr dirty="0"/>
              <a:t>AI Review Workbench</a:t>
            </a:r>
          </a:p>
          <a:p>
            <a:pPr algn="ctr">
              <a:defRPr sz="600">
                <a:solidFill>
                  <a:srgbClr val="94A3B8"/>
                </a:solidFill>
                <a:latin typeface="Segoe UI"/>
              </a:defRPr>
            </a:pPr>
            <a:r>
              <a:rPr dirty="0" err="1"/>
              <a:t>人工复核工作台截图</a:t>
            </a:r>
            <a:endParaRPr dirty="0"/>
          </a:p>
        </p:txBody>
      </p:sp>
      <p:sp>
        <p:nvSpPr>
          <p:cNvPr id="26" name="Rectangle 25"/>
          <p:cNvSpPr/>
          <p:nvPr/>
        </p:nvSpPr>
        <p:spPr>
          <a:xfrm>
            <a:off x="360000" y="2766829"/>
            <a:ext cx="3294000" cy="2116798"/>
          </a:xfrm>
          <a:prstGeom prst="rect">
            <a:avLst/>
          </a:prstGeom>
          <a:solidFill>
            <a:srgbClr val="F8FAFC"/>
          </a:solidFill>
          <a:ln w="12700">
            <a:solidFill>
              <a:srgbClr val="94A3B8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200"/>
              </a:spcAft>
              <a:defRPr sz="1600"/>
            </a:pPr>
            <a:r>
              <a:rPr dirty="0"/>
              <a:t>🖼</a:t>
            </a:r>
          </a:p>
          <a:p>
            <a:pPr algn="ctr">
              <a:defRPr sz="700" b="1">
                <a:solidFill>
                  <a:srgbClr val="64748B"/>
                </a:solidFill>
                <a:latin typeface="Segoe UI"/>
              </a:defRPr>
            </a:pPr>
            <a:r>
              <a:rPr dirty="0"/>
              <a:t>Executive Dashboard</a:t>
            </a:r>
          </a:p>
          <a:p>
            <a:pPr algn="ctr">
              <a:defRPr sz="600">
                <a:solidFill>
                  <a:srgbClr val="94A3B8"/>
                </a:solidFill>
                <a:latin typeface="Segoe UI"/>
              </a:defRPr>
            </a:pPr>
            <a:r>
              <a:rPr dirty="0" err="1"/>
              <a:t>工作台总览截图</a:t>
            </a:r>
            <a:endParaRPr dirty="0"/>
          </a:p>
        </p:txBody>
      </p:sp>
      <p:sp>
        <p:nvSpPr>
          <p:cNvPr id="27" name="Rounded Rectangle 26"/>
          <p:cNvSpPr/>
          <p:nvPr/>
        </p:nvSpPr>
        <p:spPr>
          <a:xfrm>
            <a:off x="360000" y="5248578"/>
            <a:ext cx="162000" cy="162001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11999" y="5241378"/>
            <a:ext cx="288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1E293B"/>
                </a:solidFill>
                <a:latin typeface="Segoe UI"/>
              </a:defRPr>
            </a:pPr>
            <a:r>
              <a:t>12 AI Detection Capabilities / AI检测能力覆盖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0000" y="5446578"/>
            <a:ext cx="2880000" cy="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360000" y="5500577"/>
            <a:ext cx="125999" cy="126000"/>
          </a:xfrm>
          <a:prstGeom prst="roundRect">
            <a:avLst/>
          </a:prstGeom>
          <a:solidFill>
            <a:srgbClr val="F87171"/>
          </a:solidFill>
          <a:ln w="1270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40000" y="5464577"/>
            <a:ext cx="792000" cy="12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650" b="1">
                <a:solidFill>
                  <a:srgbClr val="1E293B"/>
                </a:solidFill>
                <a:latin typeface="Segoe UI"/>
              </a:defRPr>
            </a:pPr>
            <a:r>
              <a:t>No Hard Hat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0000" y="5579778"/>
            <a:ext cx="432000" cy="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500" b="0">
                <a:solidFill>
                  <a:srgbClr val="94A3B8"/>
                </a:solidFill>
                <a:latin typeface="Segoe UI"/>
              </a:defRPr>
            </a:pPr>
            <a:r>
              <a:rPr dirty="0" err="1"/>
              <a:t>安全帽未佩戴</a:t>
            </a:r>
            <a:endParaRPr dirty="0"/>
          </a:p>
        </p:txBody>
      </p:sp>
      <p:sp>
        <p:nvSpPr>
          <p:cNvPr id="33" name="Rounded Rectangle 32"/>
          <p:cNvSpPr/>
          <p:nvPr/>
        </p:nvSpPr>
        <p:spPr>
          <a:xfrm>
            <a:off x="1080000" y="5482578"/>
            <a:ext cx="251999" cy="162001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80000" y="5482578"/>
            <a:ext cx="251999" cy="162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450" b="0">
                <a:solidFill>
                  <a:srgbClr val="1E40AF"/>
                </a:solidFill>
                <a:latin typeface="Segoe UI"/>
              </a:defRPr>
            </a:pPr>
            <a:r>
              <a:t>行为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94000" y="5500577"/>
            <a:ext cx="125999" cy="126000"/>
          </a:xfrm>
          <a:prstGeom prst="roundRect">
            <a:avLst/>
          </a:prstGeom>
          <a:solidFill>
            <a:srgbClr val="FB923C"/>
          </a:solidFill>
          <a:ln w="1270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674000" y="5464577"/>
            <a:ext cx="792000" cy="12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650" b="1">
                <a:solidFill>
                  <a:srgbClr val="1E293B"/>
                </a:solidFill>
                <a:latin typeface="Segoe UI"/>
              </a:defRPr>
            </a:pPr>
            <a:r>
              <a:t>No Safety Vest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74000" y="5579778"/>
            <a:ext cx="432000" cy="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500" b="0">
                <a:solidFill>
                  <a:srgbClr val="94A3B8"/>
                </a:solidFill>
                <a:latin typeface="Segoe UI"/>
              </a:defRPr>
            </a:pPr>
            <a:r>
              <a:t>反光衣未穿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214000" y="5482578"/>
            <a:ext cx="251999" cy="162001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214000" y="5482578"/>
            <a:ext cx="251999" cy="162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450" b="0">
                <a:solidFill>
                  <a:srgbClr val="1E40AF"/>
                </a:solidFill>
                <a:latin typeface="Segoe UI"/>
              </a:defRPr>
            </a:pPr>
            <a:r>
              <a:t>行为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28000" y="5500577"/>
            <a:ext cx="125999" cy="126000"/>
          </a:xfrm>
          <a:prstGeom prst="roundRect">
            <a:avLst/>
          </a:prstGeom>
          <a:solidFill>
            <a:srgbClr val="FACC15"/>
          </a:solidFill>
          <a:ln w="1270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808000" y="5464577"/>
            <a:ext cx="792000" cy="12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650" b="1">
                <a:solidFill>
                  <a:srgbClr val="1E293B"/>
                </a:solidFill>
                <a:latin typeface="Segoe UI"/>
              </a:defRPr>
            </a:pPr>
            <a:r>
              <a:t>Edge Protection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08000" y="5579778"/>
            <a:ext cx="432000" cy="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500" b="0">
                <a:solidFill>
                  <a:srgbClr val="94A3B8"/>
                </a:solidFill>
                <a:latin typeface="Segoe UI"/>
              </a:defRPr>
            </a:pPr>
            <a:r>
              <a:t>临边防护缺失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348000" y="5482578"/>
            <a:ext cx="251999" cy="162001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348000" y="5482578"/>
            <a:ext cx="251999" cy="162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450" b="0">
                <a:solidFill>
                  <a:srgbClr val="92400E"/>
                </a:solidFill>
                <a:latin typeface="Segoe UI"/>
              </a:defRPr>
            </a:pPr>
            <a:r>
              <a:t>物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42190" y="5537081"/>
            <a:ext cx="125999" cy="126000"/>
          </a:xfrm>
          <a:prstGeom prst="roundRect">
            <a:avLst/>
          </a:prstGeom>
          <a:solidFill>
            <a:srgbClr val="4ADE80"/>
          </a:solidFill>
          <a:ln w="1270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479675" y="5456080"/>
            <a:ext cx="608513" cy="192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650" b="1">
                <a:solidFill>
                  <a:srgbClr val="1E293B"/>
                </a:solidFill>
                <a:latin typeface="Segoe UI"/>
              </a:defRPr>
            </a:pPr>
            <a:r>
              <a:rPr dirty="0"/>
              <a:t>Smoking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79675" y="5571281"/>
            <a:ext cx="565650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500" b="0">
                <a:solidFill>
                  <a:srgbClr val="94A3B8"/>
                </a:solidFill>
                <a:latin typeface="Segoe UI"/>
              </a:defRPr>
            </a:pPr>
            <a:r>
              <a:rPr dirty="0" err="1"/>
              <a:t>吸烟检测</a:t>
            </a:r>
            <a:endParaRPr dirty="0"/>
          </a:p>
        </p:txBody>
      </p:sp>
      <p:sp>
        <p:nvSpPr>
          <p:cNvPr id="49" name="TextBox 48"/>
          <p:cNvSpPr txBox="1"/>
          <p:nvPr/>
        </p:nvSpPr>
        <p:spPr>
          <a:xfrm>
            <a:off x="7004753" y="5530737"/>
            <a:ext cx="305998" cy="162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450" b="0">
                <a:solidFill>
                  <a:srgbClr val="1E40AF"/>
                </a:solidFill>
                <a:latin typeface="Segoe UI"/>
              </a:defRPr>
            </a:pPr>
            <a:r>
              <a:rPr dirty="0" err="1"/>
              <a:t>行为</a:t>
            </a:r>
            <a:endParaRPr dirty="0"/>
          </a:p>
        </p:txBody>
      </p:sp>
      <p:sp>
        <p:nvSpPr>
          <p:cNvPr id="50" name="Rounded Rectangle 49"/>
          <p:cNvSpPr/>
          <p:nvPr/>
        </p:nvSpPr>
        <p:spPr>
          <a:xfrm>
            <a:off x="359999" y="6407912"/>
            <a:ext cx="125999" cy="126000"/>
          </a:xfrm>
          <a:prstGeom prst="roundRect">
            <a:avLst/>
          </a:prstGeom>
          <a:solidFill>
            <a:srgbClr val="60A5FA"/>
          </a:solidFill>
          <a:ln w="1270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39999" y="6371912"/>
            <a:ext cx="792000" cy="12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650" b="1">
                <a:solidFill>
                  <a:srgbClr val="1E293B"/>
                </a:solidFill>
                <a:latin typeface="Segoe UI"/>
              </a:defRPr>
            </a:pPr>
            <a:r>
              <a:t>Intrusion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9999" y="6487113"/>
            <a:ext cx="432000" cy="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500" b="0">
                <a:solidFill>
                  <a:srgbClr val="94A3B8"/>
                </a:solidFill>
                <a:latin typeface="Segoe UI"/>
              </a:defRPr>
            </a:pPr>
            <a:r>
              <a:t>人员越界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79999" y="6389913"/>
            <a:ext cx="251999" cy="162001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1079999" y="6389913"/>
            <a:ext cx="251999" cy="162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450" b="0">
                <a:solidFill>
                  <a:srgbClr val="1E40AF"/>
                </a:solidFill>
                <a:latin typeface="Segoe UI"/>
              </a:defRPr>
            </a:pPr>
            <a:r>
              <a:t>行为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493999" y="6407912"/>
            <a:ext cx="125999" cy="126000"/>
          </a:xfrm>
          <a:prstGeom prst="roundRect">
            <a:avLst/>
          </a:prstGeom>
          <a:solidFill>
            <a:srgbClr val="A78BFA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1673999" y="6371912"/>
            <a:ext cx="792000" cy="12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650" b="1">
                <a:solidFill>
                  <a:srgbClr val="1E293B"/>
                </a:solidFill>
                <a:latin typeface="Segoe UI"/>
              </a:defRPr>
            </a:pPr>
            <a:r>
              <a:t>Pit Overload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673999" y="6487113"/>
            <a:ext cx="432000" cy="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500" b="0">
                <a:solidFill>
                  <a:srgbClr val="94A3B8"/>
                </a:solidFill>
                <a:latin typeface="Segoe UI"/>
              </a:defRPr>
            </a:pPr>
            <a:r>
              <a:t>坑边堆载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213999" y="6389913"/>
            <a:ext cx="251999" cy="162001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2213999" y="6389913"/>
            <a:ext cx="251999" cy="162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450" b="0">
                <a:solidFill>
                  <a:srgbClr val="92400E"/>
                </a:solidFill>
                <a:latin typeface="Segoe UI"/>
              </a:defRPr>
            </a:pPr>
            <a:r>
              <a:t>物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60000" y="5788577"/>
            <a:ext cx="125999" cy="126000"/>
          </a:xfrm>
          <a:prstGeom prst="roundRect">
            <a:avLst/>
          </a:prstGeom>
          <a:solidFill>
            <a:srgbClr val="FB923C"/>
          </a:solidFill>
          <a:ln w="1270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540000" y="5752577"/>
            <a:ext cx="792000" cy="12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650" b="1">
                <a:solidFill>
                  <a:srgbClr val="1E293B"/>
                </a:solidFill>
                <a:latin typeface="Segoe UI"/>
              </a:defRPr>
            </a:pPr>
            <a:r>
              <a:t>Open Flame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40000" y="5867778"/>
            <a:ext cx="432000" cy="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500" b="0">
                <a:solidFill>
                  <a:srgbClr val="94A3B8"/>
                </a:solidFill>
                <a:latin typeface="Segoe UI"/>
              </a:defRPr>
            </a:pPr>
            <a:r>
              <a:rPr dirty="0" err="1"/>
              <a:t>明火检测</a:t>
            </a:r>
            <a:endParaRPr dirty="0"/>
          </a:p>
        </p:txBody>
      </p:sp>
      <p:sp>
        <p:nvSpPr>
          <p:cNvPr id="63" name="Rounded Rectangle 62"/>
          <p:cNvSpPr/>
          <p:nvPr/>
        </p:nvSpPr>
        <p:spPr>
          <a:xfrm>
            <a:off x="1080000" y="5770578"/>
            <a:ext cx="251999" cy="162001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1080000" y="5770578"/>
            <a:ext cx="251999" cy="162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450" b="0">
                <a:solidFill>
                  <a:srgbClr val="1E40AF"/>
                </a:solidFill>
                <a:latin typeface="Segoe UI"/>
              </a:defRPr>
            </a:pPr>
            <a:r>
              <a:rPr dirty="0" err="1"/>
              <a:t>行为</a:t>
            </a:r>
            <a:endParaRPr dirty="0"/>
          </a:p>
        </p:txBody>
      </p:sp>
      <p:sp>
        <p:nvSpPr>
          <p:cNvPr id="65" name="Rounded Rectangle 64"/>
          <p:cNvSpPr/>
          <p:nvPr/>
        </p:nvSpPr>
        <p:spPr>
          <a:xfrm>
            <a:off x="1494000" y="5788577"/>
            <a:ext cx="125999" cy="126000"/>
          </a:xfrm>
          <a:prstGeom prst="roundRect">
            <a:avLst/>
          </a:prstGeom>
          <a:solidFill>
            <a:srgbClr val="FBBF24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1674000" y="5752577"/>
            <a:ext cx="792000" cy="12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650" b="1">
                <a:solidFill>
                  <a:srgbClr val="1E293B"/>
                </a:solidFill>
                <a:latin typeface="Segoe UI"/>
              </a:defRPr>
            </a:pPr>
            <a:r>
              <a:t>Bulk Lifting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674000" y="5867778"/>
            <a:ext cx="432000" cy="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500" b="0">
                <a:solidFill>
                  <a:srgbClr val="94A3B8"/>
                </a:solidFill>
                <a:latin typeface="Segoe UI"/>
              </a:defRPr>
            </a:pPr>
            <a:r>
              <a:t>散料吊装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214000" y="5770578"/>
            <a:ext cx="251999" cy="162001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2214000" y="5770578"/>
            <a:ext cx="251999" cy="162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450" b="0">
                <a:solidFill>
                  <a:srgbClr val="92400E"/>
                </a:solidFill>
                <a:latin typeface="Segoe UI"/>
              </a:defRPr>
            </a:pPr>
            <a:r>
              <a:t>物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628000" y="5788577"/>
            <a:ext cx="125999" cy="126000"/>
          </a:xfrm>
          <a:prstGeom prst="roundRect">
            <a:avLst/>
          </a:prstGeom>
          <a:solidFill>
            <a:srgbClr val="34D399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2808000" y="5752577"/>
            <a:ext cx="792000" cy="12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650" b="1">
                <a:solidFill>
                  <a:srgbClr val="1E293B"/>
                </a:solidFill>
                <a:latin typeface="Segoe UI"/>
              </a:defRPr>
            </a:pPr>
            <a:r>
              <a:t>Crowd Gather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808000" y="5867778"/>
            <a:ext cx="43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500" b="0">
                <a:solidFill>
                  <a:srgbClr val="94A3B8"/>
                </a:solidFill>
                <a:latin typeface="Segoe UI"/>
              </a:defRPr>
            </a:pPr>
            <a:r>
              <a:rPr dirty="0" err="1"/>
              <a:t>人员聚集</a:t>
            </a:r>
            <a:endParaRPr dirty="0"/>
          </a:p>
        </p:txBody>
      </p:sp>
      <p:sp>
        <p:nvSpPr>
          <p:cNvPr id="73" name="Rounded Rectangle 72"/>
          <p:cNvSpPr/>
          <p:nvPr/>
        </p:nvSpPr>
        <p:spPr>
          <a:xfrm>
            <a:off x="3348000" y="5770578"/>
            <a:ext cx="251999" cy="162001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3348000" y="5770578"/>
            <a:ext cx="251999" cy="162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450" b="0">
                <a:solidFill>
                  <a:srgbClr val="1E40AF"/>
                </a:solidFill>
                <a:latin typeface="Segoe UI"/>
              </a:defRPr>
            </a:pPr>
            <a:r>
              <a:t>行为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247281" y="5854702"/>
            <a:ext cx="125999" cy="126000"/>
          </a:xfrm>
          <a:prstGeom prst="roundRect">
            <a:avLst/>
          </a:prstGeom>
          <a:solidFill>
            <a:srgbClr val="818CF8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6300933" y="5790122"/>
            <a:ext cx="959222" cy="192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650" b="1">
                <a:solidFill>
                  <a:srgbClr val="1E293B"/>
                </a:solidFill>
                <a:latin typeface="Segoe UI"/>
              </a:defRPr>
            </a:pPr>
            <a:r>
              <a:rPr dirty="0"/>
              <a:t>Vehicle Violation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79674" y="5905323"/>
            <a:ext cx="720325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500" b="0">
                <a:solidFill>
                  <a:srgbClr val="94A3B8"/>
                </a:solidFill>
                <a:latin typeface="Segoe UI"/>
              </a:defRPr>
            </a:pPr>
            <a:r>
              <a:rPr dirty="0" err="1"/>
              <a:t>车辆违规</a:t>
            </a:r>
            <a:endParaRPr dirty="0"/>
          </a:p>
        </p:txBody>
      </p:sp>
      <p:sp>
        <p:nvSpPr>
          <p:cNvPr id="79" name="TextBox 78"/>
          <p:cNvSpPr txBox="1"/>
          <p:nvPr/>
        </p:nvSpPr>
        <p:spPr>
          <a:xfrm>
            <a:off x="7019663" y="5854702"/>
            <a:ext cx="305998" cy="1615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450" b="0">
                <a:solidFill>
                  <a:srgbClr val="1E40AF"/>
                </a:solidFill>
                <a:latin typeface="Segoe UI"/>
              </a:defRPr>
            </a:pPr>
            <a:r>
              <a:rPr dirty="0" err="1"/>
              <a:t>行为</a:t>
            </a:r>
            <a:endParaRPr dirty="0"/>
          </a:p>
        </p:txBody>
      </p:sp>
      <p:sp>
        <p:nvSpPr>
          <p:cNvPr id="80" name="Rounded Rectangle 79"/>
          <p:cNvSpPr/>
          <p:nvPr/>
        </p:nvSpPr>
        <p:spPr>
          <a:xfrm>
            <a:off x="2628000" y="6407912"/>
            <a:ext cx="125999" cy="126000"/>
          </a:xfrm>
          <a:prstGeom prst="roundRect">
            <a:avLst/>
          </a:prstGeom>
          <a:solidFill>
            <a:srgbClr val="9CA3AF"/>
          </a:solidFill>
          <a:ln w="12700"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2808000" y="6371912"/>
            <a:ext cx="792000" cy="12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650" b="1">
                <a:solidFill>
                  <a:srgbClr val="1E293B"/>
                </a:solidFill>
                <a:latin typeface="Segoe UI"/>
              </a:defRPr>
            </a:pPr>
            <a:r>
              <a:t>Suspended Platform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808000" y="6487113"/>
            <a:ext cx="432000" cy="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500" b="0">
                <a:solidFill>
                  <a:srgbClr val="94A3B8"/>
                </a:solidFill>
                <a:latin typeface="Segoe UI"/>
              </a:defRPr>
            </a:pPr>
            <a:r>
              <a:t>吊篮作业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348000" y="6389913"/>
            <a:ext cx="251999" cy="162001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3348000" y="6389913"/>
            <a:ext cx="251999" cy="162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450" b="0">
                <a:solidFill>
                  <a:srgbClr val="92400E"/>
                </a:solidFill>
                <a:latin typeface="Segoe UI"/>
              </a:defRPr>
            </a:pPr>
            <a:r>
              <a:t>物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3762000" y="6407912"/>
            <a:ext cx="125999" cy="126000"/>
          </a:xfrm>
          <a:prstGeom prst="roundRect">
            <a:avLst/>
          </a:prstGeom>
          <a:solidFill>
            <a:srgbClr val="6B7280"/>
          </a:solidFill>
          <a:ln w="1270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3942000" y="6371912"/>
            <a:ext cx="792000" cy="12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650" b="1">
                <a:solidFill>
                  <a:srgbClr val="1E293B"/>
                </a:solidFill>
                <a:latin typeface="Segoe UI"/>
              </a:defRPr>
            </a:pPr>
            <a:r>
              <a:t>Enclosure Breach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942000" y="6487113"/>
            <a:ext cx="432000" cy="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500" b="0">
                <a:solidFill>
                  <a:srgbClr val="94A3B8"/>
                </a:solidFill>
                <a:latin typeface="Segoe UI"/>
              </a:defRPr>
            </a:pPr>
            <a:r>
              <a:t>工地围挡封闭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4482000" y="6389913"/>
            <a:ext cx="251999" cy="162001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4482000" y="6389913"/>
            <a:ext cx="251999" cy="162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450" b="0">
                <a:solidFill>
                  <a:srgbClr val="92400E"/>
                </a:solidFill>
                <a:latin typeface="Segoe UI"/>
              </a:defRPr>
            </a:pPr>
            <a:r>
              <a:t>物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360000" y="7257645"/>
            <a:ext cx="162000" cy="162001"/>
          </a:xfrm>
          <a:prstGeom prst="roundRect">
            <a:avLst/>
          </a:prstGeom>
          <a:solidFill>
            <a:srgbClr val="F57A00"/>
          </a:solidFill>
          <a:ln w="12700">
            <a:solidFill>
              <a:srgbClr val="F5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611999" y="7250445"/>
            <a:ext cx="288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1E293B"/>
                </a:solidFill>
                <a:latin typeface="Segoe UI"/>
              </a:defRPr>
            </a:pPr>
            <a:r>
              <a:t>6-Step Closed-Loop Workflow / 六步全流程闭环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60000" y="7455645"/>
            <a:ext cx="2880000" cy="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ounded Rectangle 92"/>
          <p:cNvSpPr/>
          <p:nvPr/>
        </p:nvSpPr>
        <p:spPr>
          <a:xfrm>
            <a:off x="540000" y="7473645"/>
            <a:ext cx="396000" cy="39600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540000" y="7491645"/>
            <a:ext cx="39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Segoe UI"/>
              </a:defRPr>
            </a:pPr>
            <a:r>
              <a:t>📸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0000" y="7887644"/>
            <a:ext cx="774000" cy="12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650" b="1">
                <a:solidFill>
                  <a:srgbClr val="1E293B"/>
                </a:solidFill>
                <a:latin typeface="Segoe UI"/>
              </a:defRPr>
            </a:pPr>
            <a:r>
              <a:t>AI Detection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60000" y="7995644"/>
            <a:ext cx="774000" cy="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500" b="0">
                <a:solidFill>
                  <a:srgbClr val="64748B"/>
                </a:solidFill>
                <a:latin typeface="Segoe UI"/>
              </a:defRPr>
            </a:pPr>
            <a:r>
              <a:t>AI智能检测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26000" y="7563645"/>
            <a:ext cx="3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▸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1674000" y="7473645"/>
            <a:ext cx="396000" cy="396000"/>
          </a:xfrm>
          <a:prstGeom prst="roundRect">
            <a:avLst/>
          </a:prstGeom>
          <a:solidFill>
            <a:srgbClr val="F57A00"/>
          </a:solidFill>
          <a:ln w="12700">
            <a:solidFill>
              <a:srgbClr val="F5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1674000" y="7491645"/>
            <a:ext cx="39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Segoe UI"/>
              </a:defRPr>
            </a:pPr>
            <a:r>
              <a:t>👁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494000" y="7887644"/>
            <a:ext cx="774000" cy="12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650" b="1">
                <a:solidFill>
                  <a:srgbClr val="1E293B"/>
                </a:solidFill>
                <a:latin typeface="Segoe UI"/>
              </a:defRPr>
            </a:pPr>
            <a:r>
              <a:t>Human Review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494000" y="7995644"/>
            <a:ext cx="774000" cy="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500" b="0">
                <a:solidFill>
                  <a:srgbClr val="64748B"/>
                </a:solidFill>
                <a:latin typeface="Segoe UI"/>
              </a:defRPr>
            </a:pPr>
            <a:r>
              <a:t>人工复核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160000" y="7563645"/>
            <a:ext cx="3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▸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2808000" y="7473645"/>
            <a:ext cx="396000" cy="396000"/>
          </a:xfrm>
          <a:prstGeom prst="roundRect">
            <a:avLst/>
          </a:prstGeom>
          <a:solidFill>
            <a:srgbClr val="E11D48"/>
          </a:solidFill>
          <a:ln w="1270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2808000" y="7491645"/>
            <a:ext cx="39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Segoe UI"/>
              </a:defRPr>
            </a:pPr>
            <a:r>
              <a:t>📋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628000" y="7887644"/>
            <a:ext cx="774000" cy="12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650" b="1">
                <a:solidFill>
                  <a:srgbClr val="1E293B"/>
                </a:solidFill>
                <a:latin typeface="Segoe UI"/>
              </a:defRPr>
            </a:pPr>
            <a:r>
              <a:t>WO Dispatch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628000" y="7995644"/>
            <a:ext cx="774000" cy="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500" b="0">
                <a:solidFill>
                  <a:srgbClr val="64748B"/>
                </a:solidFill>
                <a:latin typeface="Segoe UI"/>
              </a:defRPr>
            </a:pPr>
            <a:r>
              <a:t>工单派发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294000" y="7563645"/>
            <a:ext cx="3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▸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3941999" y="7473645"/>
            <a:ext cx="396000" cy="396000"/>
          </a:xfrm>
          <a:prstGeom prst="roundRect">
            <a:avLst/>
          </a:prstGeom>
          <a:solidFill>
            <a:srgbClr val="10B98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3941999" y="7491645"/>
            <a:ext cx="39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Segoe UI"/>
              </a:defRPr>
            </a:pPr>
            <a:r>
              <a:t>🔧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761999" y="7887644"/>
            <a:ext cx="774000" cy="12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650" b="1">
                <a:solidFill>
                  <a:srgbClr val="1E293B"/>
                </a:solidFill>
                <a:latin typeface="Segoe UI"/>
              </a:defRPr>
            </a:pPr>
            <a:r>
              <a:t>Rectification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761999" y="7995644"/>
            <a:ext cx="774000" cy="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500" b="0">
                <a:solidFill>
                  <a:srgbClr val="64748B"/>
                </a:solidFill>
                <a:latin typeface="Segoe UI"/>
              </a:defRPr>
            </a:pPr>
            <a:r>
              <a:t>现场整改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427999" y="7563645"/>
            <a:ext cx="3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▸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5076000" y="7473645"/>
            <a:ext cx="396000" cy="396000"/>
          </a:xfrm>
          <a:prstGeom prst="roundRect">
            <a:avLst/>
          </a:prstGeom>
          <a:solidFill>
            <a:srgbClr val="8B5CF6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5076000" y="7491645"/>
            <a:ext cx="39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Segoe UI"/>
              </a:defRPr>
            </a:pPr>
            <a:r>
              <a:t>✅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96000" y="7887644"/>
            <a:ext cx="774000" cy="12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650" b="1">
                <a:solidFill>
                  <a:srgbClr val="1E293B"/>
                </a:solidFill>
                <a:latin typeface="Segoe UI"/>
              </a:defRPr>
            </a:pPr>
            <a:r>
              <a:t>Verification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896000" y="7995644"/>
            <a:ext cx="774000" cy="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500" b="0">
                <a:solidFill>
                  <a:srgbClr val="64748B"/>
                </a:solidFill>
                <a:latin typeface="Segoe UI"/>
              </a:defRPr>
            </a:pPr>
            <a:r>
              <a:t>整改验收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562000" y="7563645"/>
            <a:ext cx="3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▸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6210000" y="7473645"/>
            <a:ext cx="396000" cy="396000"/>
          </a:xfrm>
          <a:prstGeom prst="roundRect">
            <a:avLst/>
          </a:prstGeom>
          <a:solidFill>
            <a:srgbClr val="3730A3"/>
          </a:solidFill>
          <a:ln w="12700">
            <a:solidFill>
              <a:srgbClr val="3730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6210000" y="7491645"/>
            <a:ext cx="39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Segoe UI"/>
              </a:defRPr>
            </a:pPr>
            <a:r>
              <a:t>🔒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030000" y="7887644"/>
            <a:ext cx="774000" cy="12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650" b="1">
                <a:solidFill>
                  <a:srgbClr val="1E293B"/>
                </a:solidFill>
                <a:latin typeface="Segoe UI"/>
              </a:defRPr>
            </a:pPr>
            <a:r>
              <a:t>Closure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030000" y="7995644"/>
            <a:ext cx="774000" cy="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500" b="0">
                <a:solidFill>
                  <a:srgbClr val="64748B"/>
                </a:solidFill>
                <a:latin typeface="Segoe UI"/>
              </a:defRPr>
            </a:pPr>
            <a:r>
              <a:t>闭环归档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0000" y="8157644"/>
            <a:ext cx="2232000" cy="1820290"/>
          </a:xfrm>
          <a:prstGeom prst="rect">
            <a:avLst/>
          </a:prstGeom>
          <a:solidFill>
            <a:srgbClr val="F8FAFC"/>
          </a:solidFill>
          <a:ln w="12700">
            <a:solidFill>
              <a:srgbClr val="94A3B8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200"/>
              </a:spcAft>
              <a:defRPr sz="1600"/>
            </a:pPr>
            <a:r>
              <a:rPr dirty="0"/>
              <a:t>🖼</a:t>
            </a:r>
          </a:p>
          <a:p>
            <a:pPr algn="ctr">
              <a:defRPr sz="700" b="1">
                <a:solidFill>
                  <a:srgbClr val="64748B"/>
                </a:solidFill>
                <a:latin typeface="Segoe UI"/>
              </a:defRPr>
            </a:pPr>
            <a:r>
              <a:rPr dirty="0"/>
              <a:t>Camera Live View + AI Annotations</a:t>
            </a:r>
          </a:p>
          <a:p>
            <a:pPr algn="ctr">
              <a:defRPr sz="600">
                <a:solidFill>
                  <a:srgbClr val="94A3B8"/>
                </a:solidFill>
                <a:latin typeface="Segoe UI"/>
              </a:defRPr>
            </a:pPr>
            <a:r>
              <a:rPr dirty="0" err="1"/>
              <a:t>摄像头实时画面</a:t>
            </a:r>
            <a:r>
              <a:rPr dirty="0"/>
              <a:t> + </a:t>
            </a:r>
            <a:r>
              <a:rPr dirty="0" err="1"/>
              <a:t>AI标注效果示意</a:t>
            </a:r>
            <a:endParaRPr dirty="0"/>
          </a:p>
        </p:txBody>
      </p:sp>
      <p:sp>
        <p:nvSpPr>
          <p:cNvPr id="123" name="Rectangle 122"/>
          <p:cNvSpPr/>
          <p:nvPr/>
        </p:nvSpPr>
        <p:spPr>
          <a:xfrm>
            <a:off x="2700000" y="8157644"/>
            <a:ext cx="2232000" cy="1827490"/>
          </a:xfrm>
          <a:prstGeom prst="rect">
            <a:avLst/>
          </a:prstGeom>
          <a:solidFill>
            <a:srgbClr val="F8FAFC"/>
          </a:solidFill>
          <a:ln w="12700">
            <a:solidFill>
              <a:srgbClr val="94A3B8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200"/>
              </a:spcAft>
              <a:defRPr sz="1600"/>
            </a:pPr>
            <a:r>
              <a:t>🖼</a:t>
            </a:r>
          </a:p>
          <a:p>
            <a:pPr algn="ctr">
              <a:defRPr sz="700" b="1">
                <a:solidFill>
                  <a:srgbClr val="64748B"/>
                </a:solidFill>
                <a:latin typeface="Segoe UI"/>
              </a:defRPr>
            </a:pPr>
            <a:r>
              <a:t>Hazard Detection Examples</a:t>
            </a:r>
          </a:p>
          <a:p>
            <a:pPr algn="ctr">
              <a:defRPr sz="600">
                <a:solidFill>
                  <a:srgbClr val="94A3B8"/>
                </a:solidFill>
                <a:latin typeface="Segoe UI"/>
              </a:defRPr>
            </a:pPr>
            <a:r>
              <a:t>隐患检测示例：安全帽未佩戴、临边防护缺失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40000" y="8157644"/>
            <a:ext cx="2160000" cy="1820290"/>
          </a:xfrm>
          <a:prstGeom prst="rect">
            <a:avLst/>
          </a:prstGeom>
          <a:solidFill>
            <a:srgbClr val="F8FAFC"/>
          </a:solidFill>
          <a:ln w="12700">
            <a:solidFill>
              <a:srgbClr val="94A3B8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200"/>
              </a:spcAft>
              <a:defRPr sz="1600"/>
            </a:pPr>
            <a:r>
              <a:t>🖼</a:t>
            </a:r>
          </a:p>
          <a:p>
            <a:pPr algn="ctr">
              <a:defRPr sz="700" b="1">
                <a:solidFill>
                  <a:srgbClr val="64748B"/>
                </a:solidFill>
                <a:latin typeface="Segoe UI"/>
              </a:defRPr>
            </a:pPr>
            <a:r>
              <a:t>Work Order Lifecycle Tracking</a:t>
            </a:r>
          </a:p>
          <a:p>
            <a:pPr algn="ctr">
              <a:defRPr sz="600">
                <a:solidFill>
                  <a:srgbClr val="94A3B8"/>
                </a:solidFill>
                <a:latin typeface="Segoe UI"/>
              </a:defRPr>
            </a:pPr>
            <a:r>
              <a:t>工单全生命周期状态流转示意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360000" y="10224000"/>
            <a:ext cx="6840000" cy="108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TextBox 125"/>
          <p:cNvSpPr txBox="1"/>
          <p:nvPr/>
        </p:nvSpPr>
        <p:spPr>
          <a:xfrm>
            <a:off x="360000" y="10296000"/>
            <a:ext cx="288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550" b="0">
                <a:solidFill>
                  <a:srgbClr val="64748B"/>
                </a:solidFill>
                <a:latin typeface="Segoe UI"/>
              </a:defRPr>
            </a:pPr>
            <a:r>
              <a:t>VisionGuard · AI Construction Safety · © 2026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960000" y="10296000"/>
            <a:ext cx="32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550" b="0">
                <a:solidFill>
                  <a:srgbClr val="64748B"/>
                </a:solidFill>
                <a:latin typeface="Segoe UI"/>
              </a:defRPr>
            </a:pPr>
            <a:r>
              <a:t>🌐 Live Demo: bestaloner.github.io/AIsp  |  📧 contact@visionguard.ai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560000" cy="54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0000" y="180000"/>
            <a:ext cx="468000" cy="46800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0000" y="180000"/>
            <a:ext cx="46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Segoe UI"/>
              </a:defRPr>
            </a:pPr>
            <a:r>
              <a:t>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6000" y="180000"/>
            <a:ext cx="28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2563EB"/>
                </a:solidFill>
                <a:latin typeface="Segoe UI"/>
              </a:defRPr>
            </a:pPr>
            <a:r>
              <a:t>VisionGuard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6000" y="413999"/>
            <a:ext cx="360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600" b="0">
                <a:solidFill>
                  <a:srgbClr val="64748B"/>
                </a:solidFill>
                <a:latin typeface="Segoe UI"/>
              </a:defRPr>
            </a:pPr>
            <a:r>
              <a:t>AI Construction Safety Inspection Platform · 建筑施工AI安全巡检平台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0000" y="234000"/>
            <a:ext cx="1152000" cy="251999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120000" y="234000"/>
            <a:ext cx="115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550" b="1">
                <a:solidFill>
                  <a:srgbClr val="FFFFFF"/>
                </a:solidFill>
                <a:latin typeface="Segoe UI"/>
              </a:defRPr>
            </a:pPr>
            <a:r>
              <a:t>HUMAN-AI COLLABORATION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60000" y="737999"/>
            <a:ext cx="6840000" cy="108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60000" y="827999"/>
            <a:ext cx="162000" cy="162000"/>
          </a:xfrm>
          <a:prstGeom prst="roundRect">
            <a:avLst/>
          </a:prstGeom>
          <a:solidFill>
            <a:srgbClr val="10B98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11999" y="820799"/>
            <a:ext cx="36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1E293B"/>
                </a:solidFill>
                <a:latin typeface="Segoe UI"/>
              </a:defRPr>
            </a:pPr>
            <a:r>
              <a:t>Core Platform Modules / 核心功能模块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0000" y="1025999"/>
            <a:ext cx="3600000" cy="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0000" y="1043999"/>
            <a:ext cx="2160000" cy="9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94A3B8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200"/>
              </a:spcAft>
              <a:defRPr sz="1600"/>
            </a:pPr>
            <a:r>
              <a:t>🖼</a:t>
            </a:r>
          </a:p>
          <a:p>
            <a:pPr algn="ctr">
              <a:defRPr sz="700" b="1">
                <a:solidFill>
                  <a:srgbClr val="64748B"/>
                </a:solidFill>
                <a:latin typeface="Segoe UI"/>
              </a:defRPr>
            </a:pPr>
            <a:r>
              <a:t>Dashboard + AI Review</a:t>
            </a:r>
          </a:p>
          <a:p>
            <a:pPr algn="ctr">
              <a:defRPr sz="600">
                <a:solidFill>
                  <a:srgbClr val="94A3B8"/>
                </a:solidFill>
                <a:latin typeface="Segoe UI"/>
              </a:defRPr>
            </a:pPr>
            <a:r>
              <a:t>工作台 + 复核台截图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64000" y="1043999"/>
            <a:ext cx="453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1E293B"/>
                </a:solidFill>
                <a:latin typeface="Segoe UI"/>
              </a:defRPr>
            </a:pPr>
            <a:r>
              <a:t>Executive Dashboard &amp; AI Review Workbench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64000" y="1241999"/>
            <a:ext cx="453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600" b="0">
                <a:solidFill>
                  <a:srgbClr val="64748B"/>
                </a:solidFill>
                <a:latin typeface="Segoe UI"/>
              </a:defRPr>
            </a:pPr>
            <a:r>
              <a:t>工作台总览 · 人工复核工作台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64000" y="1403999"/>
            <a:ext cx="4536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650" b="0">
                <a:solidFill>
                  <a:srgbClr val="64748B"/>
                </a:solidFill>
                <a:latin typeface="Segoe UI"/>
              </a:defRPr>
            </a:pPr>
            <a:r>
              <a:t>Real-time KPI cards, hazard trend charts, and project status overview. The AI Review Workbench presents original camera images side-by-side with AI-annotated detection results — reviewers confirm or dismiss each finding in seconds. This human-in-the-loop step combines AI speed with expert judgment to eliminate false positives.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0000" y="2141999"/>
            <a:ext cx="2160000" cy="9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94A3B8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200"/>
              </a:spcAft>
              <a:defRPr sz="1600"/>
            </a:pPr>
            <a:r>
              <a:t>🖼</a:t>
            </a:r>
          </a:p>
          <a:p>
            <a:pPr algn="ctr">
              <a:defRPr sz="700" b="1">
                <a:solidFill>
                  <a:srgbClr val="64748B"/>
                </a:solidFill>
                <a:latin typeface="Segoe UI"/>
              </a:defRPr>
            </a:pPr>
            <a:r>
              <a:t>Work Order Management</a:t>
            </a:r>
          </a:p>
          <a:p>
            <a:pPr algn="ctr">
              <a:defRPr sz="600">
                <a:solidFill>
                  <a:srgbClr val="94A3B8"/>
                </a:solidFill>
                <a:latin typeface="Segoe UI"/>
              </a:defRPr>
            </a:pPr>
            <a:r>
              <a:t>工单派发 + 工单台账截图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64000" y="2141999"/>
            <a:ext cx="453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1E293B"/>
                </a:solidFill>
                <a:latin typeface="Segoe UI"/>
              </a:defRPr>
            </a:pPr>
            <a:r>
              <a:t>Work Order Dispatch &amp; Lifecycle Tracking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64000" y="2339999"/>
            <a:ext cx="453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600" b="0">
                <a:solidFill>
                  <a:srgbClr val="64748B"/>
                </a:solidFill>
                <a:latin typeface="Segoe UI"/>
              </a:defRPr>
            </a:pPr>
            <a:r>
              <a:t>工单派发 · 工单台账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64000" y="2501999"/>
            <a:ext cx="4536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650" b="0">
                <a:solidFill>
                  <a:srgbClr val="64748B"/>
                </a:solidFill>
                <a:latin typeface="Segoe UI"/>
              </a:defRPr>
            </a:pPr>
            <a:r>
              <a:t>One-click batch dispatch confirmed hazards as work orders to assigned on-site executors. Full lifecycle: Pending → Dispatched → Rectifying → Submitted → Verified → Closed. Every status change is timestamped and logged. Executors see only assigned tasks; admins have full visibility across all projects.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0000" y="3239999"/>
            <a:ext cx="2160000" cy="9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94A3B8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200"/>
              </a:spcAft>
              <a:defRPr sz="1600"/>
            </a:pPr>
            <a:r>
              <a:t>🖼</a:t>
            </a:r>
          </a:p>
          <a:p>
            <a:pPr algn="ctr">
              <a:defRPr sz="700" b="1">
                <a:solidFill>
                  <a:srgbClr val="64748B"/>
                </a:solidFill>
                <a:latin typeface="Segoe UI"/>
              </a:defRPr>
            </a:pPr>
            <a:r>
              <a:t>Camera &amp; Project Config</a:t>
            </a:r>
          </a:p>
          <a:p>
            <a:pPr algn="ctr">
              <a:defRPr sz="600">
                <a:solidFill>
                  <a:srgbClr val="94A3B8"/>
                </a:solidFill>
                <a:latin typeface="Segoe UI"/>
              </a:defRPr>
            </a:pPr>
            <a:r>
              <a:t>摄像头配置 + 项目管理截图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64000" y="3239999"/>
            <a:ext cx="453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1E293B"/>
                </a:solidFill>
                <a:latin typeface="Segoe UI"/>
              </a:defRPr>
            </a:pPr>
            <a:r>
              <a:t>Multi-Site Management &amp; Per-Camera Scene Config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64000" y="3437999"/>
            <a:ext cx="453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600" b="0">
                <a:solidFill>
                  <a:srgbClr val="64748B"/>
                </a:solidFill>
                <a:latin typeface="Segoe UI"/>
              </a:defRPr>
            </a:pPr>
            <a:r>
              <a:t>项目管理 · 摄像头场景矩阵配置 · 工单设置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64000" y="3599999"/>
            <a:ext cx="4536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650" b="0">
                <a:solidFill>
                  <a:srgbClr val="64748B"/>
                </a:solidFill>
                <a:latin typeface="Segoe UI"/>
              </a:defRPr>
            </a:pPr>
            <a:r>
              <a:t>One platform manages unlimited construction sites. Each camera independently configured with a scene matrix — enable only relevant hazard types per camera's field of view. WO Settings control which hazard categories auto-generate work orders. Project-level executor assignment ensures accountability.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0000" y="4284000"/>
            <a:ext cx="162000" cy="16200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11999" y="4276800"/>
            <a:ext cx="288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1E293B"/>
                </a:solidFill>
                <a:latin typeface="Segoe UI"/>
              </a:defRPr>
            </a:pPr>
            <a:r>
              <a:t>Role-Based Access / 角色权限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0000" y="4482000"/>
            <a:ext cx="2880000" cy="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360000" y="4500000"/>
            <a:ext cx="774000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558000" y="4572000"/>
            <a:ext cx="360000" cy="3600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58000" y="4590000"/>
            <a:ext cx="36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D4ED8"/>
                </a:solidFill>
                <a:latin typeface="Segoe UI"/>
              </a:defRPr>
            </a:pPr>
            <a:r>
              <a:t>👑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6000" y="5003999"/>
            <a:ext cx="702000" cy="12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650" b="1">
                <a:solidFill>
                  <a:srgbClr val="1E293B"/>
                </a:solidFill>
                <a:latin typeface="Segoe UI"/>
              </a:defRPr>
            </a:pPr>
            <a:r>
              <a:t>Administrator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6000" y="5112000"/>
            <a:ext cx="702000" cy="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500" b="0">
                <a:solidFill>
                  <a:srgbClr val="64748B"/>
                </a:solidFill>
                <a:latin typeface="Segoe UI"/>
              </a:defRPr>
            </a:pPr>
            <a:r>
              <a:t>系统管理员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6000" y="5237999"/>
            <a:ext cx="70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550" b="0">
                <a:solidFill>
                  <a:srgbClr val="64748B"/>
                </a:solidFill>
                <a:latin typeface="Segoe UI"/>
              </a:defRPr>
            </a:pPr>
            <a:r>
              <a:t>Full platform access</a:t>
            </a:r>
            <a:br/>
            <a:r>
              <a:t>User/Project/Camera mgmt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242000" y="4500000"/>
            <a:ext cx="774000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1440000" y="4572000"/>
            <a:ext cx="360000" cy="36000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440000" y="4590000"/>
            <a:ext cx="36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F57A00"/>
                </a:solidFill>
                <a:latin typeface="Segoe UI"/>
              </a:defRPr>
            </a:pPr>
            <a:r>
              <a:t>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78000" y="5003999"/>
            <a:ext cx="702000" cy="12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650" b="1">
                <a:solidFill>
                  <a:srgbClr val="1E293B"/>
                </a:solidFill>
                <a:latin typeface="Segoe UI"/>
              </a:defRPr>
            </a:pPr>
            <a:r>
              <a:t>Reviewer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78000" y="5112000"/>
            <a:ext cx="702000" cy="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500" b="0">
                <a:solidFill>
                  <a:srgbClr val="64748B"/>
                </a:solidFill>
                <a:latin typeface="Segoe UI"/>
              </a:defRPr>
            </a:pPr>
            <a:r>
              <a:t>复核员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78000" y="5237999"/>
            <a:ext cx="70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550" b="0">
                <a:solidFill>
                  <a:srgbClr val="64748B"/>
                </a:solidFill>
                <a:latin typeface="Segoe UI"/>
              </a:defRPr>
            </a:pPr>
            <a:r>
              <a:t>AI review workbench</a:t>
            </a:r>
            <a:br/>
            <a:r>
              <a:t>Confirm/dismiss hazards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124000" y="4500000"/>
            <a:ext cx="774000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2322000" y="4572000"/>
            <a:ext cx="360000" cy="36000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322000" y="4590000"/>
            <a:ext cx="36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0B981"/>
                </a:solidFill>
                <a:latin typeface="Segoe UI"/>
              </a:defRPr>
            </a:pPr>
            <a:r>
              <a:t>🔧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60000" y="5003999"/>
            <a:ext cx="702000" cy="12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650" b="1">
                <a:solidFill>
                  <a:srgbClr val="1E293B"/>
                </a:solidFill>
                <a:latin typeface="Segoe UI"/>
              </a:defRPr>
            </a:pPr>
            <a:r>
              <a:t>Executor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60000" y="5112000"/>
            <a:ext cx="702000" cy="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500" b="0">
                <a:solidFill>
                  <a:srgbClr val="64748B"/>
                </a:solidFill>
                <a:latin typeface="Segoe UI"/>
              </a:defRPr>
            </a:pPr>
            <a:r>
              <a:t>执行人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60000" y="5237999"/>
            <a:ext cx="70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550" b="0">
                <a:solidFill>
                  <a:srgbClr val="64748B"/>
                </a:solidFill>
                <a:latin typeface="Segoe UI"/>
              </a:defRPr>
            </a:pPr>
            <a:r>
              <a:t>Receives assigned WOs</a:t>
            </a:r>
            <a:br/>
            <a:r>
              <a:t>On-site rectification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006000" y="4500000"/>
            <a:ext cx="774000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3204000" y="4572000"/>
            <a:ext cx="360000" cy="36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3204000" y="4590000"/>
            <a:ext cx="36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4748B"/>
                </a:solidFill>
                <a:latin typeface="Segoe UI"/>
              </a:defRPr>
            </a:pPr>
            <a:r>
              <a:t>👀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042000" y="5003999"/>
            <a:ext cx="702000" cy="12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650" b="1">
                <a:solidFill>
                  <a:srgbClr val="1E293B"/>
                </a:solidFill>
                <a:latin typeface="Segoe UI"/>
              </a:defRPr>
            </a:pPr>
            <a:r>
              <a:t>Viewer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42000" y="5112000"/>
            <a:ext cx="702000" cy="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500" b="0">
                <a:solidFill>
                  <a:srgbClr val="64748B"/>
                </a:solidFill>
                <a:latin typeface="Segoe UI"/>
              </a:defRPr>
            </a:pPr>
            <a:r>
              <a:t>观察员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42000" y="5237999"/>
            <a:ext cx="70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550" b="0">
                <a:solidFill>
                  <a:srgbClr val="64748B"/>
                </a:solidFill>
                <a:latin typeface="Segoe UI"/>
              </a:defRPr>
            </a:pPr>
            <a:r>
              <a:t>Read-only access</a:t>
            </a:r>
            <a:br/>
            <a:r>
              <a:t>Dashboard &amp; reports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140000" y="4284000"/>
            <a:ext cx="162000" cy="162000"/>
          </a:xfrm>
          <a:prstGeom prst="roundRect">
            <a:avLst/>
          </a:prstGeom>
          <a:solidFill>
            <a:srgbClr val="F57A00"/>
          </a:solidFill>
          <a:ln w="12700">
            <a:solidFill>
              <a:srgbClr val="F5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4391999" y="4276800"/>
            <a:ext cx="288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1E293B"/>
                </a:solidFill>
                <a:latin typeface="Segoe UI"/>
              </a:defRPr>
            </a:pPr>
            <a:r>
              <a:t>Why VisionGuard / 核心优势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40000" y="4482000"/>
            <a:ext cx="2880000" cy="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4140000" y="4500000"/>
            <a:ext cx="144000" cy="14400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140000" y="4492800"/>
            <a:ext cx="14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500" b="0">
                <a:solidFill>
                  <a:srgbClr val="10B981"/>
                </a:solidFill>
                <a:latin typeface="Segoe UI"/>
              </a:defRPr>
            </a:pPr>
            <a:r>
              <a:t>✓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74000" y="4482000"/>
            <a:ext cx="2700000" cy="1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650" b="1">
                <a:solidFill>
                  <a:srgbClr val="1E293B"/>
                </a:solidFill>
                <a:latin typeface="Segoe UI"/>
              </a:defRPr>
            </a:pPr>
            <a:r>
              <a:t>Dual AI Engine / 双AI引擎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74000" y="4590000"/>
            <a:ext cx="270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550" b="0">
                <a:solidFill>
                  <a:srgbClr val="64748B"/>
                </a:solidFill>
                <a:latin typeface="Segoe UI"/>
              </a:defRPr>
            </a:pPr>
            <a:r>
              <a:t>YOLO real-time detection + VLM secondary verification — high recall, low false positives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140000" y="4751999"/>
            <a:ext cx="144000" cy="14400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4140000" y="4744799"/>
            <a:ext cx="14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500" b="0">
                <a:solidFill>
                  <a:srgbClr val="10B981"/>
                </a:solidFill>
                <a:latin typeface="Segoe UI"/>
              </a:defRPr>
            </a:pPr>
            <a:r>
              <a:t>✓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74000" y="4733999"/>
            <a:ext cx="2700000" cy="1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650" b="1">
                <a:solidFill>
                  <a:srgbClr val="1E293B"/>
                </a:solidFill>
                <a:latin typeface="Segoe UI"/>
              </a:defRPr>
            </a:pPr>
            <a:r>
              <a:t>Human-in-the-Loop / 人机协同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74000" y="4841999"/>
            <a:ext cx="270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550" b="0">
                <a:solidFill>
                  <a:srgbClr val="64748B"/>
                </a:solidFill>
                <a:latin typeface="Segoe UI"/>
              </a:defRPr>
            </a:pPr>
            <a:r>
              <a:t>AI flags, humans decide — combining machine speed with expert judgment for unmatched accuracy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140000" y="5003998"/>
            <a:ext cx="144000" cy="14400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140000" y="4996798"/>
            <a:ext cx="14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500" b="0">
                <a:solidFill>
                  <a:srgbClr val="10B981"/>
                </a:solidFill>
                <a:latin typeface="Segoe UI"/>
              </a:defRPr>
            </a:pPr>
            <a:r>
              <a:t>✓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374000" y="4985998"/>
            <a:ext cx="2700000" cy="1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650" b="1">
                <a:solidFill>
                  <a:srgbClr val="1E293B"/>
                </a:solidFill>
                <a:latin typeface="Segoe UI"/>
              </a:defRPr>
            </a:pPr>
            <a:r>
              <a:t>Full Lifecycle Traceability / 全链路可追溯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374000" y="5093998"/>
            <a:ext cx="270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550" b="0">
                <a:solidFill>
                  <a:srgbClr val="64748B"/>
                </a:solidFill>
                <a:latin typeface="Segoe UI"/>
              </a:defRPr>
            </a:pPr>
            <a:r>
              <a:t>Every hazard has a complete audit trail from AI detection to rectification closure — compliance ready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140000" y="5255997"/>
            <a:ext cx="144000" cy="14400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4140000" y="5248797"/>
            <a:ext cx="144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500" b="0">
                <a:solidFill>
                  <a:srgbClr val="10B981"/>
                </a:solidFill>
                <a:latin typeface="Segoe UI"/>
              </a:defRPr>
            </a:pPr>
            <a:r>
              <a:t>✓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374000" y="5237997"/>
            <a:ext cx="2700000" cy="1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650" b="1">
                <a:solidFill>
                  <a:srgbClr val="1E293B"/>
                </a:solidFill>
                <a:latin typeface="Segoe UI"/>
              </a:defRPr>
            </a:pPr>
            <a:r>
              <a:t>Enterprise Multi-Site Scale / 企业级多项目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374000" y="5345997"/>
            <a:ext cx="270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550" b="0">
                <a:solidFill>
                  <a:srgbClr val="64748B"/>
                </a:solidFill>
                <a:latin typeface="Segoe UI"/>
              </a:defRPr>
            </a:pPr>
            <a:r>
              <a:t>One platform manages all sites, cameras, and teams — scales from single site to enterprise portfolio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60000" y="5436000"/>
            <a:ext cx="162000" cy="162000"/>
          </a:xfrm>
          <a:prstGeom prst="roundRect">
            <a:avLst/>
          </a:prstGeom>
          <a:solidFill>
            <a:srgbClr val="64748B"/>
          </a:solidFill>
          <a:ln w="1270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611999" y="5428800"/>
            <a:ext cx="288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1E293B"/>
                </a:solidFill>
                <a:latin typeface="Segoe UI"/>
              </a:defRPr>
            </a:pPr>
            <a:r>
              <a:rPr dirty="0"/>
              <a:t>Technology Stack / </a:t>
            </a:r>
            <a:r>
              <a:rPr dirty="0" err="1"/>
              <a:t>技术栈</a:t>
            </a:r>
            <a:endParaRPr dirty="0"/>
          </a:p>
        </p:txBody>
      </p:sp>
      <p:sp>
        <p:nvSpPr>
          <p:cNvPr id="73" name="Rectangle 72"/>
          <p:cNvSpPr/>
          <p:nvPr/>
        </p:nvSpPr>
        <p:spPr>
          <a:xfrm>
            <a:off x="360000" y="5634000"/>
            <a:ext cx="2880000" cy="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ounded Rectangle 73"/>
          <p:cNvSpPr/>
          <p:nvPr/>
        </p:nvSpPr>
        <p:spPr>
          <a:xfrm>
            <a:off x="360000" y="5670000"/>
            <a:ext cx="774000" cy="3600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360000" y="5687999"/>
            <a:ext cx="774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1">
                <a:solidFill>
                  <a:srgbClr val="1E293B"/>
                </a:solidFill>
                <a:latin typeface="Segoe UI"/>
              </a:defRPr>
            </a:pPr>
            <a:r>
              <a:t>🎯 YOLO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60000" y="5832000"/>
            <a:ext cx="774000" cy="1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500" b="0">
                <a:solidFill>
                  <a:srgbClr val="64748B"/>
                </a:solidFill>
                <a:latin typeface="Segoe UI"/>
              </a:defRPr>
            </a:pPr>
            <a:r>
              <a:t>Real-time Object Detection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1242000" y="5670000"/>
            <a:ext cx="774000" cy="3600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1242000" y="5687999"/>
            <a:ext cx="774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1">
                <a:solidFill>
                  <a:srgbClr val="1E293B"/>
                </a:solidFill>
                <a:latin typeface="Segoe UI"/>
              </a:defRPr>
            </a:pPr>
            <a:r>
              <a:t>🧠 VLM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242000" y="5832000"/>
            <a:ext cx="774000" cy="1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500" b="0">
                <a:solidFill>
                  <a:srgbClr val="64748B"/>
                </a:solidFill>
                <a:latin typeface="Segoe UI"/>
              </a:defRPr>
            </a:pPr>
            <a:r>
              <a:t>Vision Language Model (Qwen)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2124000" y="5670000"/>
            <a:ext cx="774000" cy="3600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2124000" y="5687999"/>
            <a:ext cx="774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1">
                <a:solidFill>
                  <a:srgbClr val="1E293B"/>
                </a:solidFill>
                <a:latin typeface="Segoe UI"/>
              </a:defRPr>
            </a:pPr>
            <a:r>
              <a:t>⚡ vLLM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124000" y="5832000"/>
            <a:ext cx="774000" cy="1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500" b="0">
                <a:solidFill>
                  <a:srgbClr val="64748B"/>
                </a:solidFill>
                <a:latin typeface="Segoe UI"/>
              </a:defRPr>
            </a:pPr>
            <a:r>
              <a:t>High-Throughput Inference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006000" y="5670000"/>
            <a:ext cx="774000" cy="3600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3006000" y="5687999"/>
            <a:ext cx="774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1">
                <a:solidFill>
                  <a:srgbClr val="1E293B"/>
                </a:solidFill>
                <a:latin typeface="Segoe UI"/>
              </a:defRPr>
            </a:pPr>
            <a:r>
              <a:t>🔗 REST API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006000" y="5832000"/>
            <a:ext cx="774000" cy="1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500" b="0">
                <a:solidFill>
                  <a:srgbClr val="64748B"/>
                </a:solidFill>
                <a:latin typeface="Segoe UI"/>
              </a:defRPr>
            </a:pPr>
            <a:r>
              <a:t>Upstream Integration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60000" y="6102000"/>
            <a:ext cx="34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600" b="1">
                <a:solidFill>
                  <a:srgbClr val="1D4ED8"/>
                </a:solidFill>
                <a:latin typeface="Segoe UI"/>
              </a:defRPr>
            </a:pPr>
            <a:r>
              <a:t>📸 Cameras → 🎯 YOLO → 🧠 VLM → 👁 Human Review → 📋 Work Order → 🔧 Rectify → ✅ Verify → 📤 Upstream API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0000" y="6210000"/>
            <a:ext cx="342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550" b="0">
                <a:solidFill>
                  <a:srgbClr val="64748B"/>
                </a:solidFill>
                <a:latin typeface="Segoe UI"/>
              </a:defRPr>
            </a:pPr>
            <a:r>
              <a:t>指数退避重试 + 死信队列确保数据零丢失  ·  Exponential backoff retry + dead-letter queue for zero data loss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4140000" y="5436000"/>
            <a:ext cx="162000" cy="162000"/>
          </a:xfrm>
          <a:prstGeom prst="roundRect">
            <a:avLst/>
          </a:prstGeom>
          <a:solidFill>
            <a:srgbClr val="10B98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4391999" y="5428800"/>
            <a:ext cx="288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1E293B"/>
                </a:solidFill>
                <a:latin typeface="Segoe UI"/>
              </a:defRPr>
            </a:pPr>
            <a:r>
              <a:t>Application Scenario / 应用场景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140000" y="5634000"/>
            <a:ext cx="2880000" cy="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ounded Rectangle 90"/>
          <p:cNvSpPr/>
          <p:nvPr/>
        </p:nvSpPr>
        <p:spPr>
          <a:xfrm>
            <a:off x="4140000" y="5669999"/>
            <a:ext cx="3060000" cy="1677601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Rectangle 91"/>
          <p:cNvSpPr/>
          <p:nvPr/>
        </p:nvSpPr>
        <p:spPr>
          <a:xfrm>
            <a:off x="4248000" y="5724000"/>
            <a:ext cx="1260000" cy="1423560"/>
          </a:xfrm>
          <a:prstGeom prst="rect">
            <a:avLst/>
          </a:prstGeom>
          <a:solidFill>
            <a:srgbClr val="F8FAFC"/>
          </a:solidFill>
          <a:ln w="12700">
            <a:solidFill>
              <a:srgbClr val="94A3B8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200"/>
              </a:spcAft>
              <a:defRPr sz="1600"/>
            </a:pPr>
            <a:r>
              <a:rPr dirty="0"/>
              <a:t>🖼</a:t>
            </a:r>
          </a:p>
          <a:p>
            <a:pPr algn="ctr">
              <a:defRPr sz="700" b="1">
                <a:solidFill>
                  <a:srgbClr val="64748B"/>
                </a:solidFill>
                <a:latin typeface="Segoe UI"/>
              </a:defRPr>
            </a:pPr>
            <a:r>
              <a:rPr dirty="0"/>
              <a:t>Site Overview</a:t>
            </a:r>
          </a:p>
          <a:p>
            <a:pPr algn="ctr">
              <a:defRPr sz="600">
                <a:solidFill>
                  <a:srgbClr val="94A3B8"/>
                </a:solidFill>
                <a:latin typeface="Segoe UI"/>
              </a:defRPr>
            </a:pPr>
            <a:r>
              <a:rPr dirty="0" err="1"/>
              <a:t>工地全景示意</a:t>
            </a:r>
            <a:endParaRPr dirty="0"/>
          </a:p>
        </p:txBody>
      </p:sp>
      <p:sp>
        <p:nvSpPr>
          <p:cNvPr id="93" name="TextBox 92"/>
          <p:cNvSpPr txBox="1"/>
          <p:nvPr/>
        </p:nvSpPr>
        <p:spPr>
          <a:xfrm>
            <a:off x="5615999" y="5724000"/>
            <a:ext cx="1475999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1">
                <a:solidFill>
                  <a:srgbClr val="1D4ED8"/>
                </a:solidFill>
                <a:latin typeface="Segoe UI"/>
              </a:defRPr>
            </a:pPr>
            <a:r>
              <a:t>Typical Deployment / 典型部署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615999" y="5868000"/>
            <a:ext cx="1475999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550" b="0">
                <a:solidFill>
                  <a:srgbClr val="64748B"/>
                </a:solidFill>
                <a:latin typeface="Segoe UI"/>
              </a:defRPr>
            </a:pPr>
            <a:r>
              <a:t>A mid-size construction site deploys 8–20 cameras covering entrances, edges, lifting zones, material yards, and access roads. VisionGuard monitors all feeds simultaneously — impossible for human guards to match. When a hazard is detected, the system alerts reviewers within seconds and dispatches work orders to on-site executors.</a:t>
            </a:r>
            <a:br/>
            <a:br/>
            <a:r>
              <a:t>中型工地通常部署8-20路摄像头覆盖出入口、临边、吊装区、材料堆场等关键区域。AI秒级告警、人工快速复核、工单直达现场执行人。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60000" y="10224000"/>
            <a:ext cx="6840000" cy="108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360000" y="10296000"/>
            <a:ext cx="288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550" b="0">
                <a:solidFill>
                  <a:srgbClr val="64748B"/>
                </a:solidFill>
                <a:latin typeface="Segoe UI"/>
              </a:defRPr>
            </a:pPr>
            <a:r>
              <a:t>VisionGuard · AI Construction Safety · © 2026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960000" y="10296000"/>
            <a:ext cx="32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550" b="0">
                <a:solidFill>
                  <a:srgbClr val="64748B"/>
                </a:solidFill>
                <a:latin typeface="Segoe UI"/>
              </a:defRPr>
            </a:pPr>
            <a:r>
              <a:t>🌐 Live Demo: bestaloner.github.io/AIsp  |  📧 contact@visionguard.ai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85</TotalTime>
  <Words>773</Words>
  <Application>Microsoft Office PowerPoint</Application>
  <PresentationFormat>自定义</PresentationFormat>
  <Paragraphs>165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烺 黄</cp:lastModifiedBy>
  <cp:revision>2</cp:revision>
  <dcterms:created xsi:type="dcterms:W3CDTF">2013-01-27T09:14:16Z</dcterms:created>
  <dcterms:modified xsi:type="dcterms:W3CDTF">2026-06-24T09:43:55Z</dcterms:modified>
  <cp:category/>
</cp:coreProperties>
</file>